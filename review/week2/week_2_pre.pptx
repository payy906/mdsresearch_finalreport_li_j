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uce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League Spartan" charset="1" panose="00000800000000000000"/>
      <p:regular r:id="rId19"/>
    </p:embeddedFont>
    <p:embeddedFont>
      <p:font typeface="Helios" charset="1" panose="020B0504020202020204"/>
      <p:regular r:id="rId20"/>
    </p:embeddedFont>
    <p:embeddedFont>
      <p:font typeface="Codec Pro ExtraBold" charset="1" panose="00000700000000000000"/>
      <p:regular r:id="rId21"/>
    </p:embeddedFont>
    <p:embeddedFont>
      <p:font typeface="Helios Bold" charset="1" panose="020B07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514" y="7297432"/>
            <a:ext cx="1778273" cy="35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365679"/>
                </a:solidFill>
                <a:latin typeface="Open Sauce"/>
                <a:ea typeface="Open Sauce"/>
                <a:cs typeface="Open Sauce"/>
                <a:sym typeface="Open Sauce"/>
              </a:rPr>
              <a:t>JIAJUN LI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816107" y="-6385370"/>
            <a:ext cx="19920214" cy="7528639"/>
            <a:chOff x="0" y="0"/>
            <a:chExt cx="5246476" cy="19828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46476" cy="1982851"/>
            </a:xfrm>
            <a:custGeom>
              <a:avLst/>
              <a:gdLst/>
              <a:ahLst/>
              <a:cxnLst/>
              <a:rect r="r" b="b" t="t" l="l"/>
              <a:pathLst>
                <a:path h="1982851" w="5246476">
                  <a:moveTo>
                    <a:pt x="0" y="0"/>
                  </a:moveTo>
                  <a:lnTo>
                    <a:pt x="5246476" y="0"/>
                  </a:lnTo>
                  <a:lnTo>
                    <a:pt x="5246476" y="1982851"/>
                  </a:lnTo>
                  <a:lnTo>
                    <a:pt x="0" y="1982851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246476" cy="20400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2059" y="2359810"/>
            <a:ext cx="17363882" cy="316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</a:pPr>
            <a:r>
              <a:rPr lang="en-US" b="true" sz="5999" spc="29">
                <a:solidFill>
                  <a:srgbClr val="2B485F"/>
                </a:solidFill>
                <a:latin typeface="Poppins Bold"/>
                <a:ea typeface="Poppins Bold"/>
                <a:cs typeface="Poppins Bold"/>
                <a:sym typeface="Poppins Bold"/>
              </a:rPr>
              <a:t>Driving Factors of COVID-19 Protective Behaviours in Australia </a:t>
            </a:r>
          </a:p>
          <a:p>
            <a:pPr algn="ctr" marL="0" indent="0" lvl="0">
              <a:lnSpc>
                <a:spcPts val="8279"/>
              </a:lnSpc>
              <a:spcBef>
                <a:spcPct val="0"/>
              </a:spcBef>
            </a:pPr>
            <a:r>
              <a:rPr lang="en-US" b="true" sz="5999" spc="29">
                <a:solidFill>
                  <a:srgbClr val="2B485F"/>
                </a:solidFill>
                <a:latin typeface="Poppins Bold"/>
                <a:ea typeface="Poppins Bold"/>
                <a:cs typeface="Poppins Bold"/>
                <a:sym typeface="Poppins Bold"/>
              </a:rPr>
              <a:t>Based on Deep Learning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1199304" y="9258300"/>
            <a:ext cx="19920214" cy="7528639"/>
            <a:chOff x="0" y="0"/>
            <a:chExt cx="5246476" cy="19828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46476" cy="1982851"/>
            </a:xfrm>
            <a:custGeom>
              <a:avLst/>
              <a:gdLst/>
              <a:ahLst/>
              <a:cxnLst/>
              <a:rect r="r" b="b" t="t" l="l"/>
              <a:pathLst>
                <a:path h="1982851" w="5246476">
                  <a:moveTo>
                    <a:pt x="0" y="0"/>
                  </a:moveTo>
                  <a:lnTo>
                    <a:pt x="5246476" y="0"/>
                  </a:lnTo>
                  <a:lnTo>
                    <a:pt x="5246476" y="1982851"/>
                  </a:lnTo>
                  <a:lnTo>
                    <a:pt x="0" y="1982851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246476" cy="20400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5514683" y="6017954"/>
            <a:ext cx="6492240" cy="0"/>
          </a:xfrm>
          <a:prstGeom prst="line">
            <a:avLst/>
          </a:prstGeom>
          <a:ln cap="flat" w="38100">
            <a:solidFill>
              <a:srgbClr val="2B485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71191" y="-953142"/>
            <a:ext cx="14732382" cy="12193285"/>
            <a:chOff x="0" y="0"/>
            <a:chExt cx="606795" cy="502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99076" y="389760"/>
            <a:ext cx="11070161" cy="518290"/>
            <a:chOff x="0" y="0"/>
            <a:chExt cx="2915598" cy="136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15598" cy="136504"/>
            </a:xfrm>
            <a:custGeom>
              <a:avLst/>
              <a:gdLst/>
              <a:ahLst/>
              <a:cxnLst/>
              <a:rect r="r" b="b" t="t" l="l"/>
              <a:pathLst>
                <a:path h="136504" w="2915598">
                  <a:moveTo>
                    <a:pt x="35667" y="0"/>
                  </a:moveTo>
                  <a:lnTo>
                    <a:pt x="2879931" y="0"/>
                  </a:lnTo>
                  <a:cubicBezTo>
                    <a:pt x="2889390" y="0"/>
                    <a:pt x="2898463" y="3758"/>
                    <a:pt x="2905151" y="10447"/>
                  </a:cubicBezTo>
                  <a:cubicBezTo>
                    <a:pt x="2911840" y="17135"/>
                    <a:pt x="2915598" y="26207"/>
                    <a:pt x="2915598" y="35667"/>
                  </a:cubicBezTo>
                  <a:lnTo>
                    <a:pt x="2915598" y="100838"/>
                  </a:lnTo>
                  <a:cubicBezTo>
                    <a:pt x="2915598" y="110297"/>
                    <a:pt x="2911840" y="119369"/>
                    <a:pt x="2905151" y="126058"/>
                  </a:cubicBezTo>
                  <a:cubicBezTo>
                    <a:pt x="2898463" y="132747"/>
                    <a:pt x="2889390" y="136504"/>
                    <a:pt x="2879931" y="136504"/>
                  </a:cubicBezTo>
                  <a:lnTo>
                    <a:pt x="35667" y="136504"/>
                  </a:lnTo>
                  <a:cubicBezTo>
                    <a:pt x="26207" y="136504"/>
                    <a:pt x="17135" y="132747"/>
                    <a:pt x="10447" y="126058"/>
                  </a:cubicBezTo>
                  <a:cubicBezTo>
                    <a:pt x="3758" y="119369"/>
                    <a:pt x="0" y="110297"/>
                    <a:pt x="0" y="100838"/>
                  </a:cubicBezTo>
                  <a:lnTo>
                    <a:pt x="0" y="35667"/>
                  </a:lnTo>
                  <a:cubicBezTo>
                    <a:pt x="0" y="26207"/>
                    <a:pt x="3758" y="17135"/>
                    <a:pt x="10447" y="10447"/>
                  </a:cubicBezTo>
                  <a:cubicBezTo>
                    <a:pt x="17135" y="3758"/>
                    <a:pt x="26207" y="0"/>
                    <a:pt x="35667" y="0"/>
                  </a:cubicBezTo>
                  <a:close/>
                </a:path>
              </a:pathLst>
            </a:custGeom>
            <a:solidFill>
              <a:srgbClr val="F0F4F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915598" cy="1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99076" y="389760"/>
            <a:ext cx="3158389" cy="518290"/>
            <a:chOff x="0" y="0"/>
            <a:chExt cx="831839" cy="136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1839" cy="136504"/>
            </a:xfrm>
            <a:custGeom>
              <a:avLst/>
              <a:gdLst/>
              <a:ahLst/>
              <a:cxnLst/>
              <a:rect r="r" b="b" t="t" l="l"/>
              <a:pathLst>
                <a:path h="136504" w="831839">
                  <a:moveTo>
                    <a:pt x="68252" y="0"/>
                  </a:moveTo>
                  <a:lnTo>
                    <a:pt x="763587" y="0"/>
                  </a:lnTo>
                  <a:cubicBezTo>
                    <a:pt x="781688" y="0"/>
                    <a:pt x="799049" y="7191"/>
                    <a:pt x="811848" y="19991"/>
                  </a:cubicBezTo>
                  <a:cubicBezTo>
                    <a:pt x="824648" y="32790"/>
                    <a:pt x="831839" y="50151"/>
                    <a:pt x="831839" y="68252"/>
                  </a:cubicBezTo>
                  <a:lnTo>
                    <a:pt x="831839" y="68252"/>
                  </a:lnTo>
                  <a:cubicBezTo>
                    <a:pt x="831839" y="105947"/>
                    <a:pt x="801281" y="136504"/>
                    <a:pt x="763587" y="136504"/>
                  </a:cubicBezTo>
                  <a:lnTo>
                    <a:pt x="68252" y="136504"/>
                  </a:lnTo>
                  <a:cubicBezTo>
                    <a:pt x="50151" y="136504"/>
                    <a:pt x="32790" y="129314"/>
                    <a:pt x="19991" y="116514"/>
                  </a:cubicBezTo>
                  <a:cubicBezTo>
                    <a:pt x="7191" y="103714"/>
                    <a:pt x="0" y="86354"/>
                    <a:pt x="0" y="68252"/>
                  </a:cubicBezTo>
                  <a:lnTo>
                    <a:pt x="0" y="68252"/>
                  </a:lnTo>
                  <a:cubicBezTo>
                    <a:pt x="0" y="50151"/>
                    <a:pt x="7191" y="32790"/>
                    <a:pt x="19991" y="19991"/>
                  </a:cubicBezTo>
                  <a:cubicBezTo>
                    <a:pt x="32790" y="7191"/>
                    <a:pt x="50151" y="0"/>
                    <a:pt x="68252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31839" cy="1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425950" y="9203265"/>
            <a:ext cx="19920214" cy="3849042"/>
            <a:chOff x="0" y="0"/>
            <a:chExt cx="5246476" cy="10137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46476" cy="1013739"/>
            </a:xfrm>
            <a:custGeom>
              <a:avLst/>
              <a:gdLst/>
              <a:ahLst/>
              <a:cxnLst/>
              <a:rect r="r" b="b" t="t" l="l"/>
              <a:pathLst>
                <a:path h="1013739" w="5246476">
                  <a:moveTo>
                    <a:pt x="0" y="0"/>
                  </a:moveTo>
                  <a:lnTo>
                    <a:pt x="5246476" y="0"/>
                  </a:lnTo>
                  <a:lnTo>
                    <a:pt x="5246476" y="1013739"/>
                  </a:lnTo>
                  <a:lnTo>
                    <a:pt x="0" y="1013739"/>
                  </a:lnTo>
                  <a:close/>
                </a:path>
              </a:pathLst>
            </a:custGeom>
            <a:solidFill>
              <a:srgbClr val="2B485F">
                <a:alpha val="26667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246476" cy="107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0583" y="1229399"/>
            <a:ext cx="13490707" cy="1074139"/>
            <a:chOff x="0" y="0"/>
            <a:chExt cx="17987610" cy="143218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85725"/>
              <a:ext cx="4983101" cy="66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03"/>
                </a:lnSpc>
              </a:pPr>
              <a:r>
                <a:rPr lang="en-US" sz="2869" spc="111">
                  <a:solidFill>
                    <a:srgbClr val="365679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Importance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7754" y="733725"/>
              <a:ext cx="17959856" cy="69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2"/>
                </a:lnSpc>
              </a:pPr>
              <a:r>
                <a:rPr lang="en-US" sz="1972">
                  <a:solidFill>
                    <a:srgbClr val="365679"/>
                  </a:solidFill>
                  <a:latin typeface="Helios"/>
                  <a:ea typeface="Helios"/>
                  <a:cs typeface="Helios"/>
                  <a:sym typeface="Helios"/>
                </a:rPr>
                <a:t>Protective behaviours, especially mask wearing, were important in reducing COVID 19 </a:t>
              </a:r>
              <a:r>
                <a:rPr lang="en-US" sz="1972">
                  <a:solidFill>
                    <a:srgbClr val="365679"/>
                  </a:solidFill>
                  <a:latin typeface="Helios"/>
                  <a:ea typeface="Helios"/>
                  <a:cs typeface="Helios"/>
                  <a:sym typeface="Helios"/>
                </a:rPr>
                <a:t>transmission, understanding their drivers is important for public health policy.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999076" y="348419"/>
            <a:ext cx="3324914" cy="49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258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BACKGROUND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90583" y="2709766"/>
            <a:ext cx="10143441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5"/>
              </a:lnSpc>
            </a:pPr>
            <a:r>
              <a:rPr lang="en-US" sz="2869" spc="114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Existing Research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64652" y="3408997"/>
            <a:ext cx="4575997" cy="37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1"/>
              </a:lnSpc>
              <a:spcBef>
                <a:spcPct val="0"/>
              </a:spcBef>
            </a:pP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-Multiple Factors Shape Behaviour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72484" y="4851866"/>
            <a:ext cx="13490794" cy="60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7"/>
              </a:lnSpc>
            </a:pPr>
            <a:r>
              <a:rPr lang="en-US" sz="19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Protective behaviours are not fixed, Ryan et al.</a:t>
            </a:r>
            <a:r>
              <a:rPr lang="en-US" sz="19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 [2] showed the role of face mask mandates in influencing the drivers of protective behaviours in Australia.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42835" y="4496769"/>
            <a:ext cx="10991982" cy="37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1"/>
              </a:lnSpc>
              <a:spcBef>
                <a:spcPct val="0"/>
              </a:spcBef>
            </a:pP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-Mask mand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ates 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and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 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p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rotective behaviour drivers in Australia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72484" y="3772965"/>
            <a:ext cx="13490794" cy="60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7"/>
              </a:lnSpc>
            </a:pPr>
            <a:r>
              <a:rPr lang="en-US" sz="19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Protective behaviours are infl</a:t>
            </a:r>
            <a:r>
              <a:rPr lang="en-US" sz="19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uenced by demographic, psychological, and policy factors, and may also change with        vaccination and COVID-19 case numbers [1].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72484" y="9298515"/>
            <a:ext cx="5633453" cy="87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7"/>
              </a:lnSpc>
              <a:spcBef>
                <a:spcPct val="0"/>
              </a:spcBef>
            </a:pPr>
            <a:r>
              <a:rPr lang="en-US" sz="1472" strike="noStrike" u="none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[1]Wismans et al. (2022), DOI: 10.1186/s12889-022-13632-9.</a:t>
            </a:r>
          </a:p>
          <a:p>
            <a:pPr algn="l" marL="0" indent="0" lvl="0">
              <a:lnSpc>
                <a:spcPts val="1767"/>
              </a:lnSpc>
              <a:spcBef>
                <a:spcPct val="0"/>
              </a:spcBef>
            </a:pPr>
            <a:r>
              <a:rPr lang="en-US" sz="1472" strike="noStrike" u="none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[2]Ryan, Matthew, et al. (2025) , DOI:10.1098/rsos.241941. </a:t>
            </a:r>
          </a:p>
          <a:p>
            <a:pPr algn="l" marL="0" indent="0" lvl="0">
              <a:lnSpc>
                <a:spcPts val="1767"/>
              </a:lnSpc>
              <a:spcBef>
                <a:spcPct val="0"/>
              </a:spcBef>
            </a:pPr>
            <a:r>
              <a:rPr lang="en-US" sz="1472" strike="noStrike" u="none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[3]Bagheri, Sajjad, et al. (2023) , DOI: 10.3389/fpsyt.2023.1283095.</a:t>
            </a:r>
          </a:p>
          <a:p>
            <a:pPr algn="l" marL="0" indent="0" lvl="0">
              <a:lnSpc>
                <a:spcPts val="1767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950666" y="6088626"/>
            <a:ext cx="13490794" cy="60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7"/>
              </a:lnSpc>
            </a:pPr>
            <a:r>
              <a:rPr lang="en-US" sz="19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MLP(Multi-Layer Perceptron)s can ach</a:t>
            </a:r>
            <a:r>
              <a:rPr lang="en-US" sz="19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ieve competitive or even stronger performance on structured data when appropriate regularization and parameter tuning are applied. [3]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42835" y="5728131"/>
            <a:ext cx="10991982" cy="373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1"/>
              </a:lnSpc>
              <a:spcBef>
                <a:spcPct val="0"/>
              </a:spcBef>
            </a:pPr>
            <a:r>
              <a:rPr lang="en-US" b="true" sz="2172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-De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ep learning h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as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 sho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wn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 pote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n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tial in str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uctured d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a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t</a:t>
            </a:r>
            <a:r>
              <a:rPr lang="en-US" b="true" sz="2172" strike="noStrike" u="non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5950" y="9458712"/>
            <a:ext cx="19920214" cy="3593595"/>
            <a:chOff x="0" y="0"/>
            <a:chExt cx="5246476" cy="946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6476" cy="946461"/>
            </a:xfrm>
            <a:custGeom>
              <a:avLst/>
              <a:gdLst/>
              <a:ahLst/>
              <a:cxnLst/>
              <a:rect r="r" b="b" t="t" l="l"/>
              <a:pathLst>
                <a:path h="946461" w="5246476">
                  <a:moveTo>
                    <a:pt x="0" y="0"/>
                  </a:moveTo>
                  <a:lnTo>
                    <a:pt x="5246476" y="0"/>
                  </a:lnTo>
                  <a:lnTo>
                    <a:pt x="5246476" y="946461"/>
                  </a:lnTo>
                  <a:lnTo>
                    <a:pt x="0" y="946461"/>
                  </a:lnTo>
                  <a:close/>
                </a:path>
              </a:pathLst>
            </a:custGeom>
            <a:solidFill>
              <a:srgbClr val="2B485F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246476" cy="1003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71191" y="-953142"/>
            <a:ext cx="14732382" cy="12193285"/>
            <a:chOff x="0" y="0"/>
            <a:chExt cx="606795" cy="5022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08035" y="4776788"/>
            <a:ext cx="6144200" cy="600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3"/>
              </a:lnSpc>
            </a:pPr>
            <a:r>
              <a:rPr lang="en-US" sz="3069" spc="122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Questions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8035" y="5529262"/>
            <a:ext cx="14799543" cy="110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5"/>
              </a:lnSpc>
            </a:pPr>
            <a:r>
              <a:rPr lang="en-US" sz="23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-How do vaccination rates and COVID-19 case numbers influence the protective behaviours in Australia?</a:t>
            </a:r>
          </a:p>
          <a:p>
            <a:pPr algn="l">
              <a:lnSpc>
                <a:spcPts val="2135"/>
              </a:lnSpc>
            </a:pPr>
          </a:p>
          <a:p>
            <a:pPr algn="l">
              <a:lnSpc>
                <a:spcPts val="2135"/>
              </a:lnSpc>
            </a:pPr>
            <a:r>
              <a:rPr lang="en-US" sz="23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-How does the performance of deep learning models compare to traditional models in predicting protective behaviours?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999076" y="389760"/>
            <a:ext cx="11070161" cy="518290"/>
            <a:chOff x="0" y="0"/>
            <a:chExt cx="2915598" cy="136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15598" cy="136504"/>
            </a:xfrm>
            <a:custGeom>
              <a:avLst/>
              <a:gdLst/>
              <a:ahLst/>
              <a:cxnLst/>
              <a:rect r="r" b="b" t="t" l="l"/>
              <a:pathLst>
                <a:path h="136504" w="2915598">
                  <a:moveTo>
                    <a:pt x="35667" y="0"/>
                  </a:moveTo>
                  <a:lnTo>
                    <a:pt x="2879931" y="0"/>
                  </a:lnTo>
                  <a:cubicBezTo>
                    <a:pt x="2889390" y="0"/>
                    <a:pt x="2898463" y="3758"/>
                    <a:pt x="2905151" y="10447"/>
                  </a:cubicBezTo>
                  <a:cubicBezTo>
                    <a:pt x="2911840" y="17135"/>
                    <a:pt x="2915598" y="26207"/>
                    <a:pt x="2915598" y="35667"/>
                  </a:cubicBezTo>
                  <a:lnTo>
                    <a:pt x="2915598" y="100838"/>
                  </a:lnTo>
                  <a:cubicBezTo>
                    <a:pt x="2915598" y="110297"/>
                    <a:pt x="2911840" y="119369"/>
                    <a:pt x="2905151" y="126058"/>
                  </a:cubicBezTo>
                  <a:cubicBezTo>
                    <a:pt x="2898463" y="132747"/>
                    <a:pt x="2889390" y="136504"/>
                    <a:pt x="2879931" y="136504"/>
                  </a:cubicBezTo>
                  <a:lnTo>
                    <a:pt x="35667" y="136504"/>
                  </a:lnTo>
                  <a:cubicBezTo>
                    <a:pt x="26207" y="136504"/>
                    <a:pt x="17135" y="132747"/>
                    <a:pt x="10447" y="126058"/>
                  </a:cubicBezTo>
                  <a:cubicBezTo>
                    <a:pt x="3758" y="119369"/>
                    <a:pt x="0" y="110297"/>
                    <a:pt x="0" y="100838"/>
                  </a:cubicBezTo>
                  <a:lnTo>
                    <a:pt x="0" y="35667"/>
                  </a:lnTo>
                  <a:cubicBezTo>
                    <a:pt x="0" y="26207"/>
                    <a:pt x="3758" y="17135"/>
                    <a:pt x="10447" y="10447"/>
                  </a:cubicBezTo>
                  <a:cubicBezTo>
                    <a:pt x="17135" y="3758"/>
                    <a:pt x="26207" y="0"/>
                    <a:pt x="35667" y="0"/>
                  </a:cubicBezTo>
                  <a:close/>
                </a:path>
              </a:pathLst>
            </a:custGeom>
            <a:solidFill>
              <a:srgbClr val="F0F4F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915598" cy="1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999076" y="389760"/>
            <a:ext cx="3158389" cy="518290"/>
            <a:chOff x="0" y="0"/>
            <a:chExt cx="831839" cy="1365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1839" cy="136504"/>
            </a:xfrm>
            <a:custGeom>
              <a:avLst/>
              <a:gdLst/>
              <a:ahLst/>
              <a:cxnLst/>
              <a:rect r="r" b="b" t="t" l="l"/>
              <a:pathLst>
                <a:path h="136504" w="831839">
                  <a:moveTo>
                    <a:pt x="68252" y="0"/>
                  </a:moveTo>
                  <a:lnTo>
                    <a:pt x="763587" y="0"/>
                  </a:lnTo>
                  <a:cubicBezTo>
                    <a:pt x="781688" y="0"/>
                    <a:pt x="799049" y="7191"/>
                    <a:pt x="811848" y="19991"/>
                  </a:cubicBezTo>
                  <a:cubicBezTo>
                    <a:pt x="824648" y="32790"/>
                    <a:pt x="831839" y="50151"/>
                    <a:pt x="831839" y="68252"/>
                  </a:cubicBezTo>
                  <a:lnTo>
                    <a:pt x="831839" y="68252"/>
                  </a:lnTo>
                  <a:cubicBezTo>
                    <a:pt x="831839" y="105947"/>
                    <a:pt x="801281" y="136504"/>
                    <a:pt x="763587" y="136504"/>
                  </a:cubicBezTo>
                  <a:lnTo>
                    <a:pt x="68252" y="136504"/>
                  </a:lnTo>
                  <a:cubicBezTo>
                    <a:pt x="50151" y="136504"/>
                    <a:pt x="32790" y="129314"/>
                    <a:pt x="19991" y="116514"/>
                  </a:cubicBezTo>
                  <a:cubicBezTo>
                    <a:pt x="7191" y="103714"/>
                    <a:pt x="0" y="86354"/>
                    <a:pt x="0" y="68252"/>
                  </a:cubicBezTo>
                  <a:lnTo>
                    <a:pt x="0" y="68252"/>
                  </a:lnTo>
                  <a:cubicBezTo>
                    <a:pt x="0" y="50151"/>
                    <a:pt x="7191" y="32790"/>
                    <a:pt x="19991" y="19991"/>
                  </a:cubicBezTo>
                  <a:cubicBezTo>
                    <a:pt x="32790" y="7191"/>
                    <a:pt x="50151" y="0"/>
                    <a:pt x="68252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831839" cy="1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999076" y="348419"/>
            <a:ext cx="3324914" cy="49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258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BACKGROUND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8035" y="1946473"/>
            <a:ext cx="11056121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5"/>
              </a:lnSpc>
            </a:pPr>
            <a:r>
              <a:rPr lang="en-US" sz="2869" spc="114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Research gap &amp; Liminations of Existing Studies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9667" y="2584959"/>
            <a:ext cx="13469892" cy="178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7"/>
              </a:lnSpc>
            </a:pPr>
            <a:r>
              <a:rPr lang="en-US" sz="19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-Ryan </a:t>
            </a:r>
            <a:r>
              <a:rPr lang="en-US" sz="19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et al. [1] provided important evidence on the relationship between mask mandates and protective behaviours in Australia. However, some key factors have not been considered. For example, the introduction of vaccination and COVID-19 case numbers may alter individuals’ risk perception and behavioural responses.</a:t>
            </a:r>
          </a:p>
          <a:p>
            <a:pPr algn="l">
              <a:lnSpc>
                <a:spcPts val="2367"/>
              </a:lnSpc>
            </a:pPr>
          </a:p>
          <a:p>
            <a:pPr algn="l">
              <a:lnSpc>
                <a:spcPts val="2367"/>
              </a:lnSpc>
            </a:pPr>
            <a:r>
              <a:rPr lang="en-US" sz="19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-Although tree based models often perform strongly on tabular data, they may still be limited in fully capturing complex interactions, particularly when multiple factors are involved [2].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9667" y="9601300"/>
            <a:ext cx="7050286" cy="657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7"/>
              </a:lnSpc>
              <a:spcBef>
                <a:spcPct val="0"/>
              </a:spcBef>
            </a:pPr>
            <a:r>
              <a:rPr lang="en-US" sz="1472" strike="noStrike" u="none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[1] Ryan, Matthew, et al. (2025) , DOI:10.1098/rsos.241941.</a:t>
            </a:r>
          </a:p>
          <a:p>
            <a:pPr algn="l" marL="0" indent="0" lvl="0">
              <a:lnSpc>
                <a:spcPts val="1767"/>
              </a:lnSpc>
              <a:spcBef>
                <a:spcPct val="0"/>
              </a:spcBef>
            </a:pPr>
            <a:r>
              <a:rPr lang="en-US" sz="1472" strike="noStrike" u="none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[2] Rana, Pratham Singh, et al. (2023), DOI: 10.1109/ICACCTech61146.2023.00044.</a:t>
            </a:r>
          </a:p>
          <a:p>
            <a:pPr algn="l" marL="0" indent="0" lvl="0">
              <a:lnSpc>
                <a:spcPts val="176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5950" y="9761238"/>
            <a:ext cx="19920214" cy="3593595"/>
            <a:chOff x="0" y="0"/>
            <a:chExt cx="5246476" cy="946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6476" cy="946461"/>
            </a:xfrm>
            <a:custGeom>
              <a:avLst/>
              <a:gdLst/>
              <a:ahLst/>
              <a:cxnLst/>
              <a:rect r="r" b="b" t="t" l="l"/>
              <a:pathLst>
                <a:path h="946461" w="5246476">
                  <a:moveTo>
                    <a:pt x="0" y="0"/>
                  </a:moveTo>
                  <a:lnTo>
                    <a:pt x="5246476" y="0"/>
                  </a:lnTo>
                  <a:lnTo>
                    <a:pt x="5246476" y="946461"/>
                  </a:lnTo>
                  <a:lnTo>
                    <a:pt x="0" y="946461"/>
                  </a:lnTo>
                  <a:close/>
                </a:path>
              </a:pathLst>
            </a:custGeom>
            <a:solidFill>
              <a:srgbClr val="2B485F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246476" cy="1003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71191" y="-953142"/>
            <a:ext cx="14732382" cy="12193285"/>
            <a:chOff x="0" y="0"/>
            <a:chExt cx="606795" cy="5022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0593513" y="-5572528"/>
            <a:ext cx="14732382" cy="12193285"/>
            <a:chOff x="0" y="0"/>
            <a:chExt cx="606795" cy="5022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99076" y="403778"/>
            <a:ext cx="11070161" cy="518290"/>
            <a:chOff x="0" y="0"/>
            <a:chExt cx="2915598" cy="136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15598" cy="136504"/>
            </a:xfrm>
            <a:custGeom>
              <a:avLst/>
              <a:gdLst/>
              <a:ahLst/>
              <a:cxnLst/>
              <a:rect r="r" b="b" t="t" l="l"/>
              <a:pathLst>
                <a:path h="136504" w="2915598">
                  <a:moveTo>
                    <a:pt x="35667" y="0"/>
                  </a:moveTo>
                  <a:lnTo>
                    <a:pt x="2879931" y="0"/>
                  </a:lnTo>
                  <a:cubicBezTo>
                    <a:pt x="2889390" y="0"/>
                    <a:pt x="2898463" y="3758"/>
                    <a:pt x="2905151" y="10447"/>
                  </a:cubicBezTo>
                  <a:cubicBezTo>
                    <a:pt x="2911840" y="17135"/>
                    <a:pt x="2915598" y="26207"/>
                    <a:pt x="2915598" y="35667"/>
                  </a:cubicBezTo>
                  <a:lnTo>
                    <a:pt x="2915598" y="100838"/>
                  </a:lnTo>
                  <a:cubicBezTo>
                    <a:pt x="2915598" y="110297"/>
                    <a:pt x="2911840" y="119369"/>
                    <a:pt x="2905151" y="126058"/>
                  </a:cubicBezTo>
                  <a:cubicBezTo>
                    <a:pt x="2898463" y="132747"/>
                    <a:pt x="2889390" y="136504"/>
                    <a:pt x="2879931" y="136504"/>
                  </a:cubicBezTo>
                  <a:lnTo>
                    <a:pt x="35667" y="136504"/>
                  </a:lnTo>
                  <a:cubicBezTo>
                    <a:pt x="26207" y="136504"/>
                    <a:pt x="17135" y="132747"/>
                    <a:pt x="10447" y="126058"/>
                  </a:cubicBezTo>
                  <a:cubicBezTo>
                    <a:pt x="3758" y="119369"/>
                    <a:pt x="0" y="110297"/>
                    <a:pt x="0" y="100838"/>
                  </a:cubicBezTo>
                  <a:lnTo>
                    <a:pt x="0" y="35667"/>
                  </a:lnTo>
                  <a:cubicBezTo>
                    <a:pt x="0" y="26207"/>
                    <a:pt x="3758" y="17135"/>
                    <a:pt x="10447" y="10447"/>
                  </a:cubicBezTo>
                  <a:cubicBezTo>
                    <a:pt x="17135" y="3758"/>
                    <a:pt x="26207" y="0"/>
                    <a:pt x="35667" y="0"/>
                  </a:cubicBezTo>
                  <a:close/>
                </a:path>
              </a:pathLst>
            </a:custGeom>
            <a:solidFill>
              <a:srgbClr val="F0F4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915598" cy="1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72377" y="403778"/>
            <a:ext cx="3324914" cy="518290"/>
            <a:chOff x="0" y="0"/>
            <a:chExt cx="4433219" cy="69105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222033" y="0"/>
              <a:ext cx="4211185" cy="691054"/>
              <a:chOff x="0" y="0"/>
              <a:chExt cx="831839" cy="13650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1839" cy="136504"/>
              </a:xfrm>
              <a:custGeom>
                <a:avLst/>
                <a:gdLst/>
                <a:ahLst/>
                <a:cxnLst/>
                <a:rect r="r" b="b" t="t" l="l"/>
                <a:pathLst>
                  <a:path h="136504" w="831839">
                    <a:moveTo>
                      <a:pt x="68252" y="0"/>
                    </a:moveTo>
                    <a:lnTo>
                      <a:pt x="763587" y="0"/>
                    </a:lnTo>
                    <a:cubicBezTo>
                      <a:pt x="781688" y="0"/>
                      <a:pt x="799049" y="7191"/>
                      <a:pt x="811848" y="19991"/>
                    </a:cubicBezTo>
                    <a:cubicBezTo>
                      <a:pt x="824648" y="32790"/>
                      <a:pt x="831839" y="50151"/>
                      <a:pt x="831839" y="68252"/>
                    </a:cubicBezTo>
                    <a:lnTo>
                      <a:pt x="831839" y="68252"/>
                    </a:lnTo>
                    <a:cubicBezTo>
                      <a:pt x="831839" y="105947"/>
                      <a:pt x="801281" y="136504"/>
                      <a:pt x="763587" y="136504"/>
                    </a:cubicBezTo>
                    <a:lnTo>
                      <a:pt x="68252" y="136504"/>
                    </a:lnTo>
                    <a:cubicBezTo>
                      <a:pt x="50151" y="136504"/>
                      <a:pt x="32790" y="129314"/>
                      <a:pt x="19991" y="116514"/>
                    </a:cubicBezTo>
                    <a:cubicBezTo>
                      <a:pt x="7191" y="103714"/>
                      <a:pt x="0" y="86354"/>
                      <a:pt x="0" y="68252"/>
                    </a:cubicBezTo>
                    <a:lnTo>
                      <a:pt x="0" y="68252"/>
                    </a:lnTo>
                    <a:cubicBezTo>
                      <a:pt x="0" y="50151"/>
                      <a:pt x="7191" y="32790"/>
                      <a:pt x="19991" y="19991"/>
                    </a:cubicBezTo>
                    <a:cubicBezTo>
                      <a:pt x="32790" y="7191"/>
                      <a:pt x="50151" y="0"/>
                      <a:pt x="68252" y="0"/>
                    </a:cubicBezTo>
                    <a:close/>
                  </a:path>
                </a:pathLst>
              </a:custGeom>
              <a:solidFill>
                <a:srgbClr val="2B485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831839" cy="155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-20196"/>
              <a:ext cx="4433219" cy="6266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25"/>
                </a:lnSpc>
              </a:pPr>
              <a:r>
                <a:rPr lang="en-US" sz="2589">
                  <a:solidFill>
                    <a:srgbClr val="FFFFFF"/>
                  </a:solidFill>
                  <a:latin typeface="Codec Pro ExtraBold"/>
                  <a:ea typeface="Codec Pro ExtraBold"/>
                  <a:cs typeface="Codec Pro ExtraBold"/>
                  <a:sym typeface="Codec Pro ExtraBold"/>
                </a:rPr>
                <a:t>METHODS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28700" y="2544062"/>
            <a:ext cx="13765929" cy="6831343"/>
          </a:xfrm>
          <a:custGeom>
            <a:avLst/>
            <a:gdLst/>
            <a:ahLst/>
            <a:cxnLst/>
            <a:rect r="r" b="b" t="t" l="l"/>
            <a:pathLst>
              <a:path h="6831343" w="13765929">
                <a:moveTo>
                  <a:pt x="0" y="0"/>
                </a:moveTo>
                <a:lnTo>
                  <a:pt x="13765929" y="0"/>
                </a:lnTo>
                <a:lnTo>
                  <a:pt x="13765929" y="6831342"/>
                </a:lnTo>
                <a:lnTo>
                  <a:pt x="0" y="6831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85874" y="5950208"/>
            <a:ext cx="2328879" cy="2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1500" y="-532096"/>
            <a:ext cx="553934" cy="344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5"/>
              </a:lnSpc>
            </a:pPr>
            <a:r>
              <a:rPr lang="en-US" sz="368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DATA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09542" y="1666103"/>
            <a:ext cx="9699912" cy="723996"/>
            <a:chOff x="0" y="0"/>
            <a:chExt cx="12933215" cy="965328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114300"/>
              <a:ext cx="12933215" cy="62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4"/>
                </a:lnSpc>
              </a:pPr>
              <a:r>
                <a:rPr lang="en-US" sz="2551" spc="102">
                  <a:solidFill>
                    <a:srgbClr val="365679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1.YouGov COVID-19 Behaviour Tracker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588487"/>
              <a:ext cx="7845678" cy="376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7"/>
                </a:lnSpc>
              </a:pPr>
              <a:r>
                <a:rPr lang="en-US" sz="1847">
                  <a:solidFill>
                    <a:srgbClr val="365679"/>
                  </a:solidFill>
                  <a:latin typeface="Helios"/>
                  <a:ea typeface="Helios"/>
                  <a:cs typeface="Helios"/>
                  <a:sym typeface="Helios"/>
                </a:rPr>
                <a:t>Individual-level behavioural</a:t>
              </a:r>
              <a:r>
                <a:rPr lang="en-US" sz="1847">
                  <a:solidFill>
                    <a:srgbClr val="365679"/>
                  </a:solidFill>
                  <a:latin typeface="Helios"/>
                  <a:ea typeface="Helios"/>
                  <a:cs typeface="Helios"/>
                  <a:sym typeface="Helios"/>
                </a:rPr>
                <a:t> data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5950" y="9761238"/>
            <a:ext cx="19920214" cy="3593595"/>
            <a:chOff x="0" y="0"/>
            <a:chExt cx="5246476" cy="946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6476" cy="946461"/>
            </a:xfrm>
            <a:custGeom>
              <a:avLst/>
              <a:gdLst/>
              <a:ahLst/>
              <a:cxnLst/>
              <a:rect r="r" b="b" t="t" l="l"/>
              <a:pathLst>
                <a:path h="946461" w="5246476">
                  <a:moveTo>
                    <a:pt x="0" y="0"/>
                  </a:moveTo>
                  <a:lnTo>
                    <a:pt x="5246476" y="0"/>
                  </a:lnTo>
                  <a:lnTo>
                    <a:pt x="5246476" y="946461"/>
                  </a:lnTo>
                  <a:lnTo>
                    <a:pt x="0" y="946461"/>
                  </a:lnTo>
                  <a:close/>
                </a:path>
              </a:pathLst>
            </a:custGeom>
            <a:solidFill>
              <a:srgbClr val="2B485F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246476" cy="1003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71191" y="-953142"/>
            <a:ext cx="14732382" cy="12193285"/>
            <a:chOff x="0" y="0"/>
            <a:chExt cx="606795" cy="5022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0593513" y="-5572528"/>
            <a:ext cx="14732382" cy="12193285"/>
            <a:chOff x="0" y="0"/>
            <a:chExt cx="606795" cy="5022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99076" y="403778"/>
            <a:ext cx="11070161" cy="518290"/>
            <a:chOff x="0" y="0"/>
            <a:chExt cx="2915598" cy="136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15598" cy="136504"/>
            </a:xfrm>
            <a:custGeom>
              <a:avLst/>
              <a:gdLst/>
              <a:ahLst/>
              <a:cxnLst/>
              <a:rect r="r" b="b" t="t" l="l"/>
              <a:pathLst>
                <a:path h="136504" w="2915598">
                  <a:moveTo>
                    <a:pt x="35667" y="0"/>
                  </a:moveTo>
                  <a:lnTo>
                    <a:pt x="2879931" y="0"/>
                  </a:lnTo>
                  <a:cubicBezTo>
                    <a:pt x="2889390" y="0"/>
                    <a:pt x="2898463" y="3758"/>
                    <a:pt x="2905151" y="10447"/>
                  </a:cubicBezTo>
                  <a:cubicBezTo>
                    <a:pt x="2911840" y="17135"/>
                    <a:pt x="2915598" y="26207"/>
                    <a:pt x="2915598" y="35667"/>
                  </a:cubicBezTo>
                  <a:lnTo>
                    <a:pt x="2915598" y="100838"/>
                  </a:lnTo>
                  <a:cubicBezTo>
                    <a:pt x="2915598" y="110297"/>
                    <a:pt x="2911840" y="119369"/>
                    <a:pt x="2905151" y="126058"/>
                  </a:cubicBezTo>
                  <a:cubicBezTo>
                    <a:pt x="2898463" y="132747"/>
                    <a:pt x="2889390" y="136504"/>
                    <a:pt x="2879931" y="136504"/>
                  </a:cubicBezTo>
                  <a:lnTo>
                    <a:pt x="35667" y="136504"/>
                  </a:lnTo>
                  <a:cubicBezTo>
                    <a:pt x="26207" y="136504"/>
                    <a:pt x="17135" y="132747"/>
                    <a:pt x="10447" y="126058"/>
                  </a:cubicBezTo>
                  <a:cubicBezTo>
                    <a:pt x="3758" y="119369"/>
                    <a:pt x="0" y="110297"/>
                    <a:pt x="0" y="100838"/>
                  </a:cubicBezTo>
                  <a:lnTo>
                    <a:pt x="0" y="35667"/>
                  </a:lnTo>
                  <a:cubicBezTo>
                    <a:pt x="0" y="26207"/>
                    <a:pt x="3758" y="17135"/>
                    <a:pt x="10447" y="10447"/>
                  </a:cubicBezTo>
                  <a:cubicBezTo>
                    <a:pt x="17135" y="3758"/>
                    <a:pt x="26207" y="0"/>
                    <a:pt x="35667" y="0"/>
                  </a:cubicBezTo>
                  <a:close/>
                </a:path>
              </a:pathLst>
            </a:custGeom>
            <a:solidFill>
              <a:srgbClr val="F0F4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915598" cy="1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72377" y="403778"/>
            <a:ext cx="3324914" cy="518290"/>
            <a:chOff x="0" y="0"/>
            <a:chExt cx="4433219" cy="69105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222033" y="0"/>
              <a:ext cx="4211185" cy="691054"/>
              <a:chOff x="0" y="0"/>
              <a:chExt cx="831839" cy="13650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1839" cy="136504"/>
              </a:xfrm>
              <a:custGeom>
                <a:avLst/>
                <a:gdLst/>
                <a:ahLst/>
                <a:cxnLst/>
                <a:rect r="r" b="b" t="t" l="l"/>
                <a:pathLst>
                  <a:path h="136504" w="831839">
                    <a:moveTo>
                      <a:pt x="68252" y="0"/>
                    </a:moveTo>
                    <a:lnTo>
                      <a:pt x="763587" y="0"/>
                    </a:lnTo>
                    <a:cubicBezTo>
                      <a:pt x="781688" y="0"/>
                      <a:pt x="799049" y="7191"/>
                      <a:pt x="811848" y="19991"/>
                    </a:cubicBezTo>
                    <a:cubicBezTo>
                      <a:pt x="824648" y="32790"/>
                      <a:pt x="831839" y="50151"/>
                      <a:pt x="831839" y="68252"/>
                    </a:cubicBezTo>
                    <a:lnTo>
                      <a:pt x="831839" y="68252"/>
                    </a:lnTo>
                    <a:cubicBezTo>
                      <a:pt x="831839" y="105947"/>
                      <a:pt x="801281" y="136504"/>
                      <a:pt x="763587" y="136504"/>
                    </a:cubicBezTo>
                    <a:lnTo>
                      <a:pt x="68252" y="136504"/>
                    </a:lnTo>
                    <a:cubicBezTo>
                      <a:pt x="50151" y="136504"/>
                      <a:pt x="32790" y="129314"/>
                      <a:pt x="19991" y="116514"/>
                    </a:cubicBezTo>
                    <a:cubicBezTo>
                      <a:pt x="7191" y="103714"/>
                      <a:pt x="0" y="86354"/>
                      <a:pt x="0" y="68252"/>
                    </a:cubicBezTo>
                    <a:lnTo>
                      <a:pt x="0" y="68252"/>
                    </a:lnTo>
                    <a:cubicBezTo>
                      <a:pt x="0" y="50151"/>
                      <a:pt x="7191" y="32790"/>
                      <a:pt x="19991" y="19991"/>
                    </a:cubicBezTo>
                    <a:cubicBezTo>
                      <a:pt x="32790" y="7191"/>
                      <a:pt x="50151" y="0"/>
                      <a:pt x="68252" y="0"/>
                    </a:cubicBezTo>
                    <a:close/>
                  </a:path>
                </a:pathLst>
              </a:custGeom>
              <a:solidFill>
                <a:srgbClr val="2B485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831839" cy="155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-20196"/>
              <a:ext cx="4433219" cy="6266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25"/>
                </a:lnSpc>
              </a:pPr>
              <a:r>
                <a:rPr lang="en-US" sz="2589">
                  <a:solidFill>
                    <a:srgbClr val="FFFFFF"/>
                  </a:solidFill>
                  <a:latin typeface="Codec Pro ExtraBold"/>
                  <a:ea typeface="Codec Pro ExtraBold"/>
                  <a:cs typeface="Codec Pro ExtraBold"/>
                  <a:sym typeface="Codec Pro ExtraBold"/>
                </a:rPr>
                <a:t>METHODS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405012" y="3265552"/>
            <a:ext cx="7555922" cy="4674129"/>
          </a:xfrm>
          <a:custGeom>
            <a:avLst/>
            <a:gdLst/>
            <a:ahLst/>
            <a:cxnLst/>
            <a:rect r="r" b="b" t="t" l="l"/>
            <a:pathLst>
              <a:path h="4674129" w="7555922">
                <a:moveTo>
                  <a:pt x="0" y="0"/>
                </a:moveTo>
                <a:lnTo>
                  <a:pt x="7555922" y="0"/>
                </a:lnTo>
                <a:lnTo>
                  <a:pt x="7555922" y="4674129"/>
                </a:lnTo>
                <a:lnTo>
                  <a:pt x="0" y="4674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85874" y="5950208"/>
            <a:ext cx="2328879" cy="2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1500" y="-532096"/>
            <a:ext cx="553934" cy="344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5"/>
              </a:lnSpc>
            </a:pPr>
            <a:r>
              <a:rPr lang="en-US" sz="368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54033" y="1280931"/>
            <a:ext cx="10160288" cy="49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2551" spc="102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2.OxCGRT COVID-19 Government Response Tracker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59481" y="1877338"/>
            <a:ext cx="5091061" cy="28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847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Mask policy (H6)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5950" y="9761238"/>
            <a:ext cx="19920214" cy="3593595"/>
            <a:chOff x="0" y="0"/>
            <a:chExt cx="5246476" cy="946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6476" cy="946461"/>
            </a:xfrm>
            <a:custGeom>
              <a:avLst/>
              <a:gdLst/>
              <a:ahLst/>
              <a:cxnLst/>
              <a:rect r="r" b="b" t="t" l="l"/>
              <a:pathLst>
                <a:path h="946461" w="5246476">
                  <a:moveTo>
                    <a:pt x="0" y="0"/>
                  </a:moveTo>
                  <a:lnTo>
                    <a:pt x="5246476" y="0"/>
                  </a:lnTo>
                  <a:lnTo>
                    <a:pt x="5246476" y="946461"/>
                  </a:lnTo>
                  <a:lnTo>
                    <a:pt x="0" y="946461"/>
                  </a:lnTo>
                  <a:close/>
                </a:path>
              </a:pathLst>
            </a:custGeom>
            <a:solidFill>
              <a:srgbClr val="2B485F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246476" cy="1003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71191" y="-953142"/>
            <a:ext cx="14732382" cy="12193285"/>
            <a:chOff x="0" y="0"/>
            <a:chExt cx="606795" cy="5022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0593513" y="-5572528"/>
            <a:ext cx="14732382" cy="12193285"/>
            <a:chOff x="0" y="0"/>
            <a:chExt cx="606795" cy="5022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99076" y="403778"/>
            <a:ext cx="11070161" cy="518290"/>
            <a:chOff x="0" y="0"/>
            <a:chExt cx="2915598" cy="136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15598" cy="136504"/>
            </a:xfrm>
            <a:custGeom>
              <a:avLst/>
              <a:gdLst/>
              <a:ahLst/>
              <a:cxnLst/>
              <a:rect r="r" b="b" t="t" l="l"/>
              <a:pathLst>
                <a:path h="136504" w="2915598">
                  <a:moveTo>
                    <a:pt x="35667" y="0"/>
                  </a:moveTo>
                  <a:lnTo>
                    <a:pt x="2879931" y="0"/>
                  </a:lnTo>
                  <a:cubicBezTo>
                    <a:pt x="2889390" y="0"/>
                    <a:pt x="2898463" y="3758"/>
                    <a:pt x="2905151" y="10447"/>
                  </a:cubicBezTo>
                  <a:cubicBezTo>
                    <a:pt x="2911840" y="17135"/>
                    <a:pt x="2915598" y="26207"/>
                    <a:pt x="2915598" y="35667"/>
                  </a:cubicBezTo>
                  <a:lnTo>
                    <a:pt x="2915598" y="100838"/>
                  </a:lnTo>
                  <a:cubicBezTo>
                    <a:pt x="2915598" y="110297"/>
                    <a:pt x="2911840" y="119369"/>
                    <a:pt x="2905151" y="126058"/>
                  </a:cubicBezTo>
                  <a:cubicBezTo>
                    <a:pt x="2898463" y="132747"/>
                    <a:pt x="2889390" y="136504"/>
                    <a:pt x="2879931" y="136504"/>
                  </a:cubicBezTo>
                  <a:lnTo>
                    <a:pt x="35667" y="136504"/>
                  </a:lnTo>
                  <a:cubicBezTo>
                    <a:pt x="26207" y="136504"/>
                    <a:pt x="17135" y="132747"/>
                    <a:pt x="10447" y="126058"/>
                  </a:cubicBezTo>
                  <a:cubicBezTo>
                    <a:pt x="3758" y="119369"/>
                    <a:pt x="0" y="110297"/>
                    <a:pt x="0" y="100838"/>
                  </a:cubicBezTo>
                  <a:lnTo>
                    <a:pt x="0" y="35667"/>
                  </a:lnTo>
                  <a:cubicBezTo>
                    <a:pt x="0" y="26207"/>
                    <a:pt x="3758" y="17135"/>
                    <a:pt x="10447" y="10447"/>
                  </a:cubicBezTo>
                  <a:cubicBezTo>
                    <a:pt x="17135" y="3758"/>
                    <a:pt x="26207" y="0"/>
                    <a:pt x="35667" y="0"/>
                  </a:cubicBezTo>
                  <a:close/>
                </a:path>
              </a:pathLst>
            </a:custGeom>
            <a:solidFill>
              <a:srgbClr val="F0F4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915598" cy="1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72377" y="403778"/>
            <a:ext cx="3324914" cy="518290"/>
            <a:chOff x="0" y="0"/>
            <a:chExt cx="4433219" cy="69105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222033" y="0"/>
              <a:ext cx="4211185" cy="691054"/>
              <a:chOff x="0" y="0"/>
              <a:chExt cx="831839" cy="13650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1839" cy="136504"/>
              </a:xfrm>
              <a:custGeom>
                <a:avLst/>
                <a:gdLst/>
                <a:ahLst/>
                <a:cxnLst/>
                <a:rect r="r" b="b" t="t" l="l"/>
                <a:pathLst>
                  <a:path h="136504" w="831839">
                    <a:moveTo>
                      <a:pt x="68252" y="0"/>
                    </a:moveTo>
                    <a:lnTo>
                      <a:pt x="763587" y="0"/>
                    </a:lnTo>
                    <a:cubicBezTo>
                      <a:pt x="781688" y="0"/>
                      <a:pt x="799049" y="7191"/>
                      <a:pt x="811848" y="19991"/>
                    </a:cubicBezTo>
                    <a:cubicBezTo>
                      <a:pt x="824648" y="32790"/>
                      <a:pt x="831839" y="50151"/>
                      <a:pt x="831839" y="68252"/>
                    </a:cubicBezTo>
                    <a:lnTo>
                      <a:pt x="831839" y="68252"/>
                    </a:lnTo>
                    <a:cubicBezTo>
                      <a:pt x="831839" y="105947"/>
                      <a:pt x="801281" y="136504"/>
                      <a:pt x="763587" y="136504"/>
                    </a:cubicBezTo>
                    <a:lnTo>
                      <a:pt x="68252" y="136504"/>
                    </a:lnTo>
                    <a:cubicBezTo>
                      <a:pt x="50151" y="136504"/>
                      <a:pt x="32790" y="129314"/>
                      <a:pt x="19991" y="116514"/>
                    </a:cubicBezTo>
                    <a:cubicBezTo>
                      <a:pt x="7191" y="103714"/>
                      <a:pt x="0" y="86354"/>
                      <a:pt x="0" y="68252"/>
                    </a:cubicBezTo>
                    <a:lnTo>
                      <a:pt x="0" y="68252"/>
                    </a:lnTo>
                    <a:cubicBezTo>
                      <a:pt x="0" y="50151"/>
                      <a:pt x="7191" y="32790"/>
                      <a:pt x="19991" y="19991"/>
                    </a:cubicBezTo>
                    <a:cubicBezTo>
                      <a:pt x="32790" y="7191"/>
                      <a:pt x="50151" y="0"/>
                      <a:pt x="68252" y="0"/>
                    </a:cubicBezTo>
                    <a:close/>
                  </a:path>
                </a:pathLst>
              </a:custGeom>
              <a:solidFill>
                <a:srgbClr val="2B485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831839" cy="155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-20196"/>
              <a:ext cx="4433219" cy="6266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25"/>
                </a:lnSpc>
              </a:pPr>
              <a:r>
                <a:rPr lang="en-US" sz="2589">
                  <a:solidFill>
                    <a:srgbClr val="FFFFFF"/>
                  </a:solidFill>
                  <a:latin typeface="Codec Pro ExtraBold"/>
                  <a:ea typeface="Codec Pro ExtraBold"/>
                  <a:cs typeface="Codec Pro ExtraBold"/>
                  <a:sym typeface="Codec Pro ExtraBold"/>
                </a:rPr>
                <a:t>METHODS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450314" y="3177115"/>
            <a:ext cx="10494487" cy="5207889"/>
          </a:xfrm>
          <a:custGeom>
            <a:avLst/>
            <a:gdLst/>
            <a:ahLst/>
            <a:cxnLst/>
            <a:rect r="r" b="b" t="t" l="l"/>
            <a:pathLst>
              <a:path h="5207889" w="10494487">
                <a:moveTo>
                  <a:pt x="0" y="0"/>
                </a:moveTo>
                <a:lnTo>
                  <a:pt x="10494487" y="0"/>
                </a:lnTo>
                <a:lnTo>
                  <a:pt x="10494487" y="5207889"/>
                </a:lnTo>
                <a:lnTo>
                  <a:pt x="0" y="5207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85874" y="5950208"/>
            <a:ext cx="2328879" cy="2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450314" y="1595840"/>
            <a:ext cx="4330281" cy="49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2551" spc="102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3.COVID-19 case data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50314" y="2236890"/>
            <a:ext cx="15413231" cy="56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847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Since the Australian government has not released detailed case number data for each state on a weekly basis, this study relies on a vaccine dataset compiled by a third-party team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500" y="-532096"/>
            <a:ext cx="553934" cy="344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5"/>
              </a:lnSpc>
            </a:pPr>
            <a:r>
              <a:rPr lang="en-US" sz="368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40064" y="9843295"/>
            <a:ext cx="8624904" cy="34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  <a:spcBef>
                <a:spcPct val="0"/>
              </a:spcBef>
            </a:pPr>
            <a:r>
              <a:rPr lang="en-US" sz="996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COVID19DATA.COM.AU. (2023). STATES AND TERRITORIES, COVID-19 IN AUSTRALIA. VIEWED 25 MARCH 2026, HTTPS://WWW.COVID19DATA.COM. AU/STATES-AND-TERRITORIES.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5950" y="9761238"/>
            <a:ext cx="19920214" cy="3593595"/>
            <a:chOff x="0" y="0"/>
            <a:chExt cx="5246476" cy="946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6476" cy="946461"/>
            </a:xfrm>
            <a:custGeom>
              <a:avLst/>
              <a:gdLst/>
              <a:ahLst/>
              <a:cxnLst/>
              <a:rect r="r" b="b" t="t" l="l"/>
              <a:pathLst>
                <a:path h="946461" w="5246476">
                  <a:moveTo>
                    <a:pt x="0" y="0"/>
                  </a:moveTo>
                  <a:lnTo>
                    <a:pt x="5246476" y="0"/>
                  </a:lnTo>
                  <a:lnTo>
                    <a:pt x="5246476" y="946461"/>
                  </a:lnTo>
                  <a:lnTo>
                    <a:pt x="0" y="946461"/>
                  </a:lnTo>
                  <a:close/>
                </a:path>
              </a:pathLst>
            </a:custGeom>
            <a:solidFill>
              <a:srgbClr val="2B485F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246476" cy="1003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71191" y="-953142"/>
            <a:ext cx="14732382" cy="12193285"/>
            <a:chOff x="0" y="0"/>
            <a:chExt cx="606795" cy="5022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0593513" y="-5572528"/>
            <a:ext cx="14732382" cy="12193285"/>
            <a:chOff x="0" y="0"/>
            <a:chExt cx="606795" cy="5022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99076" y="403778"/>
            <a:ext cx="11070161" cy="518290"/>
            <a:chOff x="0" y="0"/>
            <a:chExt cx="2915598" cy="136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15598" cy="136504"/>
            </a:xfrm>
            <a:custGeom>
              <a:avLst/>
              <a:gdLst/>
              <a:ahLst/>
              <a:cxnLst/>
              <a:rect r="r" b="b" t="t" l="l"/>
              <a:pathLst>
                <a:path h="136504" w="2915598">
                  <a:moveTo>
                    <a:pt x="35667" y="0"/>
                  </a:moveTo>
                  <a:lnTo>
                    <a:pt x="2879931" y="0"/>
                  </a:lnTo>
                  <a:cubicBezTo>
                    <a:pt x="2889390" y="0"/>
                    <a:pt x="2898463" y="3758"/>
                    <a:pt x="2905151" y="10447"/>
                  </a:cubicBezTo>
                  <a:cubicBezTo>
                    <a:pt x="2911840" y="17135"/>
                    <a:pt x="2915598" y="26207"/>
                    <a:pt x="2915598" y="35667"/>
                  </a:cubicBezTo>
                  <a:lnTo>
                    <a:pt x="2915598" y="100838"/>
                  </a:lnTo>
                  <a:cubicBezTo>
                    <a:pt x="2915598" y="110297"/>
                    <a:pt x="2911840" y="119369"/>
                    <a:pt x="2905151" y="126058"/>
                  </a:cubicBezTo>
                  <a:cubicBezTo>
                    <a:pt x="2898463" y="132747"/>
                    <a:pt x="2889390" y="136504"/>
                    <a:pt x="2879931" y="136504"/>
                  </a:cubicBezTo>
                  <a:lnTo>
                    <a:pt x="35667" y="136504"/>
                  </a:lnTo>
                  <a:cubicBezTo>
                    <a:pt x="26207" y="136504"/>
                    <a:pt x="17135" y="132747"/>
                    <a:pt x="10447" y="126058"/>
                  </a:cubicBezTo>
                  <a:cubicBezTo>
                    <a:pt x="3758" y="119369"/>
                    <a:pt x="0" y="110297"/>
                    <a:pt x="0" y="100838"/>
                  </a:cubicBezTo>
                  <a:lnTo>
                    <a:pt x="0" y="35667"/>
                  </a:lnTo>
                  <a:cubicBezTo>
                    <a:pt x="0" y="26207"/>
                    <a:pt x="3758" y="17135"/>
                    <a:pt x="10447" y="10447"/>
                  </a:cubicBezTo>
                  <a:cubicBezTo>
                    <a:pt x="17135" y="3758"/>
                    <a:pt x="26207" y="0"/>
                    <a:pt x="35667" y="0"/>
                  </a:cubicBezTo>
                  <a:close/>
                </a:path>
              </a:pathLst>
            </a:custGeom>
            <a:solidFill>
              <a:srgbClr val="F0F4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915598" cy="1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72377" y="403778"/>
            <a:ext cx="3324914" cy="518290"/>
            <a:chOff x="0" y="0"/>
            <a:chExt cx="4433219" cy="69105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222033" y="0"/>
              <a:ext cx="4211185" cy="691054"/>
              <a:chOff x="0" y="0"/>
              <a:chExt cx="831839" cy="13650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1839" cy="136504"/>
              </a:xfrm>
              <a:custGeom>
                <a:avLst/>
                <a:gdLst/>
                <a:ahLst/>
                <a:cxnLst/>
                <a:rect r="r" b="b" t="t" l="l"/>
                <a:pathLst>
                  <a:path h="136504" w="831839">
                    <a:moveTo>
                      <a:pt x="68252" y="0"/>
                    </a:moveTo>
                    <a:lnTo>
                      <a:pt x="763587" y="0"/>
                    </a:lnTo>
                    <a:cubicBezTo>
                      <a:pt x="781688" y="0"/>
                      <a:pt x="799049" y="7191"/>
                      <a:pt x="811848" y="19991"/>
                    </a:cubicBezTo>
                    <a:cubicBezTo>
                      <a:pt x="824648" y="32790"/>
                      <a:pt x="831839" y="50151"/>
                      <a:pt x="831839" y="68252"/>
                    </a:cubicBezTo>
                    <a:lnTo>
                      <a:pt x="831839" y="68252"/>
                    </a:lnTo>
                    <a:cubicBezTo>
                      <a:pt x="831839" y="105947"/>
                      <a:pt x="801281" y="136504"/>
                      <a:pt x="763587" y="136504"/>
                    </a:cubicBezTo>
                    <a:lnTo>
                      <a:pt x="68252" y="136504"/>
                    </a:lnTo>
                    <a:cubicBezTo>
                      <a:pt x="50151" y="136504"/>
                      <a:pt x="32790" y="129314"/>
                      <a:pt x="19991" y="116514"/>
                    </a:cubicBezTo>
                    <a:cubicBezTo>
                      <a:pt x="7191" y="103714"/>
                      <a:pt x="0" y="86354"/>
                      <a:pt x="0" y="68252"/>
                    </a:cubicBezTo>
                    <a:lnTo>
                      <a:pt x="0" y="68252"/>
                    </a:lnTo>
                    <a:cubicBezTo>
                      <a:pt x="0" y="50151"/>
                      <a:pt x="7191" y="32790"/>
                      <a:pt x="19991" y="19991"/>
                    </a:cubicBezTo>
                    <a:cubicBezTo>
                      <a:pt x="32790" y="7191"/>
                      <a:pt x="50151" y="0"/>
                      <a:pt x="68252" y="0"/>
                    </a:cubicBezTo>
                    <a:close/>
                  </a:path>
                </a:pathLst>
              </a:custGeom>
              <a:solidFill>
                <a:srgbClr val="2B485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831839" cy="155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-20196"/>
              <a:ext cx="4433219" cy="6266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25"/>
                </a:lnSpc>
              </a:pPr>
              <a:r>
                <a:rPr lang="en-US" sz="2589">
                  <a:solidFill>
                    <a:srgbClr val="FFFFFF"/>
                  </a:solidFill>
                  <a:latin typeface="Codec Pro ExtraBold"/>
                  <a:ea typeface="Codec Pro ExtraBold"/>
                  <a:cs typeface="Codec Pro ExtraBold"/>
                  <a:sym typeface="Codec Pro ExtraBold"/>
                </a:rPr>
                <a:t>METHODS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85874" y="5950208"/>
            <a:ext cx="2328879" cy="2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368299" y="2916643"/>
            <a:ext cx="11764818" cy="5866968"/>
          </a:xfrm>
          <a:custGeom>
            <a:avLst/>
            <a:gdLst/>
            <a:ahLst/>
            <a:cxnLst/>
            <a:rect r="r" b="b" t="t" l="l"/>
            <a:pathLst>
              <a:path h="5866968" w="11764818">
                <a:moveTo>
                  <a:pt x="0" y="0"/>
                </a:moveTo>
                <a:lnTo>
                  <a:pt x="11764817" y="0"/>
                </a:lnTo>
                <a:lnTo>
                  <a:pt x="11764817" y="5866967"/>
                </a:lnTo>
                <a:lnTo>
                  <a:pt x="0" y="5866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5" t="0" r="-245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50314" y="1699049"/>
            <a:ext cx="5706810" cy="49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2551" spc="102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4.Vaccination 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50314" y="2187785"/>
            <a:ext cx="11955435" cy="56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847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Since the Australian government has not released detailed vaccination number data for each state on a weekly basis, this study relies on a vaccine dataset compiled by a third-party team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500" y="-532096"/>
            <a:ext cx="553934" cy="344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5"/>
              </a:lnSpc>
            </a:pPr>
            <a:r>
              <a:rPr lang="en-US" sz="368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40064" y="9843295"/>
            <a:ext cx="8624904" cy="515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  <a:spcBef>
                <a:spcPct val="0"/>
              </a:spcBef>
            </a:pPr>
            <a:r>
              <a:rPr lang="en-US" sz="996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COVID19DATA.COM.AU. (2023). VACCINES, COVID-19 IN AUSTRALIA. VIEWED 25 MARCH 2026, HTTPS://WWW.COVID19DATA.COM.AU/VACCINES.</a:t>
            </a:r>
          </a:p>
          <a:p>
            <a:pPr algn="l">
              <a:lnSpc>
                <a:spcPts val="13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5950" y="9458712"/>
            <a:ext cx="19920214" cy="3593595"/>
            <a:chOff x="0" y="0"/>
            <a:chExt cx="5246476" cy="946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6476" cy="946461"/>
            </a:xfrm>
            <a:custGeom>
              <a:avLst/>
              <a:gdLst/>
              <a:ahLst/>
              <a:cxnLst/>
              <a:rect r="r" b="b" t="t" l="l"/>
              <a:pathLst>
                <a:path h="946461" w="5246476">
                  <a:moveTo>
                    <a:pt x="0" y="0"/>
                  </a:moveTo>
                  <a:lnTo>
                    <a:pt x="5246476" y="0"/>
                  </a:lnTo>
                  <a:lnTo>
                    <a:pt x="5246476" y="946461"/>
                  </a:lnTo>
                  <a:lnTo>
                    <a:pt x="0" y="946461"/>
                  </a:lnTo>
                  <a:close/>
                </a:path>
              </a:pathLst>
            </a:custGeom>
            <a:solidFill>
              <a:srgbClr val="2B485F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246476" cy="1003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71191" y="-953142"/>
            <a:ext cx="14732382" cy="12193285"/>
            <a:chOff x="0" y="0"/>
            <a:chExt cx="606795" cy="5022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36160" y="1443178"/>
            <a:ext cx="4601715" cy="54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8"/>
              </a:lnSpc>
            </a:pPr>
            <a:r>
              <a:rPr lang="en-US" sz="2816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Baseline Models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10593513" y="-5572528"/>
            <a:ext cx="14732382" cy="12193285"/>
            <a:chOff x="0" y="0"/>
            <a:chExt cx="606795" cy="5022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99076" y="403778"/>
            <a:ext cx="11070161" cy="518290"/>
            <a:chOff x="0" y="0"/>
            <a:chExt cx="2915598" cy="1365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15598" cy="136504"/>
            </a:xfrm>
            <a:custGeom>
              <a:avLst/>
              <a:gdLst/>
              <a:ahLst/>
              <a:cxnLst/>
              <a:rect r="r" b="b" t="t" l="l"/>
              <a:pathLst>
                <a:path h="136504" w="2915598">
                  <a:moveTo>
                    <a:pt x="35667" y="0"/>
                  </a:moveTo>
                  <a:lnTo>
                    <a:pt x="2879931" y="0"/>
                  </a:lnTo>
                  <a:cubicBezTo>
                    <a:pt x="2889390" y="0"/>
                    <a:pt x="2898463" y="3758"/>
                    <a:pt x="2905151" y="10447"/>
                  </a:cubicBezTo>
                  <a:cubicBezTo>
                    <a:pt x="2911840" y="17135"/>
                    <a:pt x="2915598" y="26207"/>
                    <a:pt x="2915598" y="35667"/>
                  </a:cubicBezTo>
                  <a:lnTo>
                    <a:pt x="2915598" y="100838"/>
                  </a:lnTo>
                  <a:cubicBezTo>
                    <a:pt x="2915598" y="110297"/>
                    <a:pt x="2911840" y="119369"/>
                    <a:pt x="2905151" y="126058"/>
                  </a:cubicBezTo>
                  <a:cubicBezTo>
                    <a:pt x="2898463" y="132747"/>
                    <a:pt x="2889390" y="136504"/>
                    <a:pt x="2879931" y="136504"/>
                  </a:cubicBezTo>
                  <a:lnTo>
                    <a:pt x="35667" y="136504"/>
                  </a:lnTo>
                  <a:cubicBezTo>
                    <a:pt x="26207" y="136504"/>
                    <a:pt x="17135" y="132747"/>
                    <a:pt x="10447" y="126058"/>
                  </a:cubicBezTo>
                  <a:cubicBezTo>
                    <a:pt x="3758" y="119369"/>
                    <a:pt x="0" y="110297"/>
                    <a:pt x="0" y="100838"/>
                  </a:cubicBezTo>
                  <a:lnTo>
                    <a:pt x="0" y="35667"/>
                  </a:lnTo>
                  <a:cubicBezTo>
                    <a:pt x="0" y="26207"/>
                    <a:pt x="3758" y="17135"/>
                    <a:pt x="10447" y="10447"/>
                  </a:cubicBezTo>
                  <a:cubicBezTo>
                    <a:pt x="17135" y="3758"/>
                    <a:pt x="26207" y="0"/>
                    <a:pt x="35667" y="0"/>
                  </a:cubicBezTo>
                  <a:close/>
                </a:path>
              </a:pathLst>
            </a:custGeom>
            <a:solidFill>
              <a:srgbClr val="F0F4F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915598" cy="1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72377" y="403778"/>
            <a:ext cx="3324914" cy="518290"/>
            <a:chOff x="0" y="0"/>
            <a:chExt cx="4433219" cy="69105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222033" y="0"/>
              <a:ext cx="4211185" cy="691054"/>
              <a:chOff x="0" y="0"/>
              <a:chExt cx="831839" cy="13650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31839" cy="136504"/>
              </a:xfrm>
              <a:custGeom>
                <a:avLst/>
                <a:gdLst/>
                <a:ahLst/>
                <a:cxnLst/>
                <a:rect r="r" b="b" t="t" l="l"/>
                <a:pathLst>
                  <a:path h="136504" w="831839">
                    <a:moveTo>
                      <a:pt x="68252" y="0"/>
                    </a:moveTo>
                    <a:lnTo>
                      <a:pt x="763587" y="0"/>
                    </a:lnTo>
                    <a:cubicBezTo>
                      <a:pt x="781688" y="0"/>
                      <a:pt x="799049" y="7191"/>
                      <a:pt x="811848" y="19991"/>
                    </a:cubicBezTo>
                    <a:cubicBezTo>
                      <a:pt x="824648" y="32790"/>
                      <a:pt x="831839" y="50151"/>
                      <a:pt x="831839" y="68252"/>
                    </a:cubicBezTo>
                    <a:lnTo>
                      <a:pt x="831839" y="68252"/>
                    </a:lnTo>
                    <a:cubicBezTo>
                      <a:pt x="831839" y="105947"/>
                      <a:pt x="801281" y="136504"/>
                      <a:pt x="763587" y="136504"/>
                    </a:cubicBezTo>
                    <a:lnTo>
                      <a:pt x="68252" y="136504"/>
                    </a:lnTo>
                    <a:cubicBezTo>
                      <a:pt x="50151" y="136504"/>
                      <a:pt x="32790" y="129314"/>
                      <a:pt x="19991" y="116514"/>
                    </a:cubicBezTo>
                    <a:cubicBezTo>
                      <a:pt x="7191" y="103714"/>
                      <a:pt x="0" y="86354"/>
                      <a:pt x="0" y="68252"/>
                    </a:cubicBezTo>
                    <a:lnTo>
                      <a:pt x="0" y="68252"/>
                    </a:lnTo>
                    <a:cubicBezTo>
                      <a:pt x="0" y="50151"/>
                      <a:pt x="7191" y="32790"/>
                      <a:pt x="19991" y="19991"/>
                    </a:cubicBezTo>
                    <a:cubicBezTo>
                      <a:pt x="32790" y="7191"/>
                      <a:pt x="50151" y="0"/>
                      <a:pt x="68252" y="0"/>
                    </a:cubicBezTo>
                    <a:close/>
                  </a:path>
                </a:pathLst>
              </a:custGeom>
              <a:solidFill>
                <a:srgbClr val="2B48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831839" cy="155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-20196"/>
              <a:ext cx="4433219" cy="6266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25"/>
                </a:lnSpc>
              </a:pPr>
              <a:r>
                <a:rPr lang="en-US" sz="2589">
                  <a:solidFill>
                    <a:srgbClr val="FFFFFF"/>
                  </a:solidFill>
                  <a:latin typeface="Codec Pro ExtraBold"/>
                  <a:ea typeface="Codec Pro ExtraBold"/>
                  <a:cs typeface="Codec Pro ExtraBold"/>
                  <a:sym typeface="Codec Pro ExtraBold"/>
                </a:rPr>
                <a:t>METHODS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8460" y="-609611"/>
            <a:ext cx="553934" cy="344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65"/>
              </a:lnSpc>
              <a:spcBef>
                <a:spcPct val="0"/>
              </a:spcBef>
            </a:pPr>
            <a:r>
              <a:rPr lang="en-US" b="true" sz="3689" strike="noStrike" u="none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MODELS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8498036"/>
            <a:ext cx="3981611" cy="677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3"/>
              </a:lnSpc>
              <a:spcBef>
                <a:spcPct val="0"/>
              </a:spcBef>
            </a:pPr>
            <a:r>
              <a:rPr lang="en-US" b="true" sz="2180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-</a:t>
            </a:r>
            <a:r>
              <a:rPr lang="en-US" b="true" sz="2180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Training: </a:t>
            </a:r>
          </a:p>
          <a:p>
            <a:pPr algn="l">
              <a:lnSpc>
                <a:spcPts val="2348"/>
              </a:lnSpc>
              <a:spcBef>
                <a:spcPct val="0"/>
              </a:spcBef>
            </a:pPr>
            <a:r>
              <a:rPr lang="en-US" sz="1677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5 fold cross validation on the training set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6160" y="2098077"/>
            <a:ext cx="12464464" cy="2880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  <a:spcBef>
                <a:spcPct val="0"/>
              </a:spcBef>
            </a:pPr>
            <a:r>
              <a:rPr lang="en-US" b="true" sz="2335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-Logistic Reg</a:t>
            </a:r>
            <a:r>
              <a:rPr lang="en-US" b="true" sz="2335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ression</a:t>
            </a:r>
          </a:p>
          <a:p>
            <a:pPr algn="l">
              <a:lnSpc>
                <a:spcPts val="2514"/>
              </a:lnSpc>
              <a:spcBef>
                <a:spcPct val="0"/>
              </a:spcBef>
            </a:pPr>
            <a:r>
              <a:rPr lang="en-US" sz="1796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A</a:t>
            </a:r>
            <a:r>
              <a:rPr lang="en-US" sz="1796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 simple statistical model that estimates the probability of the outcome.</a:t>
            </a:r>
          </a:p>
          <a:p>
            <a:pPr algn="l">
              <a:lnSpc>
                <a:spcPts val="2514"/>
              </a:lnSpc>
              <a:spcBef>
                <a:spcPct val="0"/>
              </a:spcBef>
            </a:pPr>
            <a:r>
              <a:rPr lang="en-US" sz="1796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Easy to interpret and helps show whether more complex models provide improvement.</a:t>
            </a:r>
          </a:p>
          <a:p>
            <a:pPr algn="l">
              <a:lnSpc>
                <a:spcPts val="3269"/>
              </a:lnSpc>
              <a:spcBef>
                <a:spcPct val="0"/>
              </a:spcBef>
            </a:pPr>
          </a:p>
          <a:p>
            <a:pPr algn="l">
              <a:lnSpc>
                <a:spcPts val="3269"/>
              </a:lnSpc>
              <a:spcBef>
                <a:spcPct val="0"/>
              </a:spcBef>
            </a:pPr>
            <a:r>
              <a:rPr lang="en-US" sz="2335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-</a:t>
            </a:r>
            <a:r>
              <a:rPr lang="en-US" b="true" sz="2335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Decis</a:t>
            </a:r>
            <a:r>
              <a:rPr lang="en-US" b="true" sz="2335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ion Trees</a:t>
            </a:r>
          </a:p>
          <a:p>
            <a:pPr algn="l">
              <a:lnSpc>
                <a:spcPts val="2514"/>
              </a:lnSpc>
              <a:spcBef>
                <a:spcPct val="0"/>
              </a:spcBef>
            </a:pPr>
            <a:r>
              <a:rPr lang="en-US" sz="1796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A tree based model that splits the data into groups using a</a:t>
            </a:r>
            <a:r>
              <a:rPr lang="en-US" sz="1796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 series of decision rules.</a:t>
            </a:r>
          </a:p>
          <a:p>
            <a:pPr algn="l">
              <a:lnSpc>
                <a:spcPts val="2514"/>
              </a:lnSpc>
              <a:spcBef>
                <a:spcPct val="0"/>
              </a:spcBef>
            </a:pPr>
            <a:r>
              <a:rPr lang="en-US" sz="1796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Can capture some nonlinear relationships and provides a more flexible baseline than Logistic Regression.</a:t>
            </a:r>
          </a:p>
          <a:p>
            <a:pPr algn="l">
              <a:lnSpc>
                <a:spcPts val="3269"/>
              </a:lnSpc>
              <a:spcBef>
                <a:spcPct val="0"/>
              </a:spcBef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1536160" y="5385733"/>
            <a:ext cx="11319623" cy="1187480"/>
            <a:chOff x="0" y="0"/>
            <a:chExt cx="15092831" cy="158330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114300"/>
              <a:ext cx="6427443" cy="622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2"/>
                </a:lnSpc>
              </a:pPr>
              <a:r>
                <a:rPr lang="en-US" sz="2550" spc="254">
                  <a:solidFill>
                    <a:srgbClr val="365679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XGBOOST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648435"/>
              <a:ext cx="15092831" cy="934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1"/>
                </a:lnSpc>
              </a:pPr>
              <a:r>
                <a:rPr lang="en-US" sz="1972">
                  <a:solidFill>
                    <a:srgbClr val="365679"/>
                  </a:solidFill>
                  <a:latin typeface="Helios"/>
                  <a:ea typeface="Helios"/>
                  <a:cs typeface="Helios"/>
                  <a:sym typeface="Helios"/>
                </a:rPr>
                <a:t>-An ensemble tree model that builds trees together to improve prediction step by step.</a:t>
              </a:r>
            </a:p>
            <a:p>
              <a:pPr algn="l">
                <a:lnSpc>
                  <a:spcPts val="2761"/>
                </a:lnSpc>
                <a:spcBef>
                  <a:spcPct val="0"/>
                </a:spcBef>
              </a:pPr>
              <a:r>
                <a:rPr lang="en-US" sz="1972">
                  <a:solidFill>
                    <a:srgbClr val="365679"/>
                  </a:solidFill>
                  <a:latin typeface="Helios"/>
                  <a:ea typeface="Helios"/>
                  <a:cs typeface="Helios"/>
                  <a:sym typeface="Helios"/>
                </a:rPr>
                <a:t>-</a:t>
              </a:r>
              <a:r>
                <a:rPr lang="en-US" sz="1972">
                  <a:solidFill>
                    <a:srgbClr val="365679"/>
                  </a:solidFill>
                  <a:latin typeface="Helios"/>
                  <a:ea typeface="Helios"/>
                  <a:cs typeface="Helios"/>
                  <a:sym typeface="Helios"/>
                </a:rPr>
                <a:t>Has already shown strong performance in structured data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767005" y="8498036"/>
            <a:ext cx="4713966" cy="677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3"/>
              </a:lnSpc>
              <a:spcBef>
                <a:spcPct val="0"/>
              </a:spcBef>
            </a:pPr>
            <a:r>
              <a:rPr lang="en-US" sz="2180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-</a:t>
            </a:r>
            <a:r>
              <a:rPr lang="en-US" b="true" sz="2180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Interpretation:</a:t>
            </a:r>
            <a:r>
              <a:rPr lang="en-US" sz="2180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</a:p>
          <a:p>
            <a:pPr algn="l">
              <a:lnSpc>
                <a:spcPts val="2348"/>
              </a:lnSpc>
              <a:spcBef>
                <a:spcPct val="0"/>
              </a:spcBef>
            </a:pPr>
            <a:r>
              <a:rPr lang="en-US" sz="1677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SHAP values for the two best performing models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40181" y="8498036"/>
            <a:ext cx="4199094" cy="677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3"/>
              </a:lnSpc>
              <a:spcBef>
                <a:spcPct val="0"/>
              </a:spcBef>
            </a:pPr>
            <a:r>
              <a:rPr lang="en-US" sz="2180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-</a:t>
            </a:r>
            <a:r>
              <a:rPr lang="en-US" b="true" sz="2180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Evaluation: </a:t>
            </a:r>
          </a:p>
          <a:p>
            <a:pPr algn="l">
              <a:lnSpc>
                <a:spcPts val="2348"/>
              </a:lnSpc>
              <a:spcBef>
                <a:spcPct val="0"/>
              </a:spcBef>
            </a:pPr>
            <a:r>
              <a:rPr lang="en-US" sz="1677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F1 score and ROC AUC on the testing set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5950" y="9458712"/>
            <a:ext cx="19920214" cy="3593595"/>
            <a:chOff x="0" y="0"/>
            <a:chExt cx="5246476" cy="946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6476" cy="946461"/>
            </a:xfrm>
            <a:custGeom>
              <a:avLst/>
              <a:gdLst/>
              <a:ahLst/>
              <a:cxnLst/>
              <a:rect r="r" b="b" t="t" l="l"/>
              <a:pathLst>
                <a:path h="946461" w="5246476">
                  <a:moveTo>
                    <a:pt x="0" y="0"/>
                  </a:moveTo>
                  <a:lnTo>
                    <a:pt x="5246476" y="0"/>
                  </a:lnTo>
                  <a:lnTo>
                    <a:pt x="5246476" y="946461"/>
                  </a:lnTo>
                  <a:lnTo>
                    <a:pt x="0" y="946461"/>
                  </a:lnTo>
                  <a:close/>
                </a:path>
              </a:pathLst>
            </a:custGeom>
            <a:solidFill>
              <a:srgbClr val="2B485F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246476" cy="1003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71191" y="-953142"/>
            <a:ext cx="14732382" cy="12193285"/>
            <a:chOff x="0" y="0"/>
            <a:chExt cx="606795" cy="5022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0593513" y="-5572528"/>
            <a:ext cx="14732382" cy="12193285"/>
            <a:chOff x="0" y="0"/>
            <a:chExt cx="606795" cy="5022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99076" y="403778"/>
            <a:ext cx="11070161" cy="518290"/>
            <a:chOff x="0" y="0"/>
            <a:chExt cx="2915598" cy="136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15598" cy="136504"/>
            </a:xfrm>
            <a:custGeom>
              <a:avLst/>
              <a:gdLst/>
              <a:ahLst/>
              <a:cxnLst/>
              <a:rect r="r" b="b" t="t" l="l"/>
              <a:pathLst>
                <a:path h="136504" w="2915598">
                  <a:moveTo>
                    <a:pt x="35667" y="0"/>
                  </a:moveTo>
                  <a:lnTo>
                    <a:pt x="2879931" y="0"/>
                  </a:lnTo>
                  <a:cubicBezTo>
                    <a:pt x="2889390" y="0"/>
                    <a:pt x="2898463" y="3758"/>
                    <a:pt x="2905151" y="10447"/>
                  </a:cubicBezTo>
                  <a:cubicBezTo>
                    <a:pt x="2911840" y="17135"/>
                    <a:pt x="2915598" y="26207"/>
                    <a:pt x="2915598" y="35667"/>
                  </a:cubicBezTo>
                  <a:lnTo>
                    <a:pt x="2915598" y="100838"/>
                  </a:lnTo>
                  <a:cubicBezTo>
                    <a:pt x="2915598" y="110297"/>
                    <a:pt x="2911840" y="119369"/>
                    <a:pt x="2905151" y="126058"/>
                  </a:cubicBezTo>
                  <a:cubicBezTo>
                    <a:pt x="2898463" y="132747"/>
                    <a:pt x="2889390" y="136504"/>
                    <a:pt x="2879931" y="136504"/>
                  </a:cubicBezTo>
                  <a:lnTo>
                    <a:pt x="35667" y="136504"/>
                  </a:lnTo>
                  <a:cubicBezTo>
                    <a:pt x="26207" y="136504"/>
                    <a:pt x="17135" y="132747"/>
                    <a:pt x="10447" y="126058"/>
                  </a:cubicBezTo>
                  <a:cubicBezTo>
                    <a:pt x="3758" y="119369"/>
                    <a:pt x="0" y="110297"/>
                    <a:pt x="0" y="100838"/>
                  </a:cubicBezTo>
                  <a:lnTo>
                    <a:pt x="0" y="35667"/>
                  </a:lnTo>
                  <a:cubicBezTo>
                    <a:pt x="0" y="26207"/>
                    <a:pt x="3758" y="17135"/>
                    <a:pt x="10447" y="10447"/>
                  </a:cubicBezTo>
                  <a:cubicBezTo>
                    <a:pt x="17135" y="3758"/>
                    <a:pt x="26207" y="0"/>
                    <a:pt x="35667" y="0"/>
                  </a:cubicBezTo>
                  <a:close/>
                </a:path>
              </a:pathLst>
            </a:custGeom>
            <a:solidFill>
              <a:srgbClr val="F0F4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915598" cy="1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72377" y="403778"/>
            <a:ext cx="3324914" cy="518290"/>
            <a:chOff x="0" y="0"/>
            <a:chExt cx="4433219" cy="69105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222033" y="0"/>
              <a:ext cx="4211185" cy="691054"/>
              <a:chOff x="0" y="0"/>
              <a:chExt cx="831839" cy="13650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1839" cy="136504"/>
              </a:xfrm>
              <a:custGeom>
                <a:avLst/>
                <a:gdLst/>
                <a:ahLst/>
                <a:cxnLst/>
                <a:rect r="r" b="b" t="t" l="l"/>
                <a:pathLst>
                  <a:path h="136504" w="831839">
                    <a:moveTo>
                      <a:pt x="68252" y="0"/>
                    </a:moveTo>
                    <a:lnTo>
                      <a:pt x="763587" y="0"/>
                    </a:lnTo>
                    <a:cubicBezTo>
                      <a:pt x="781688" y="0"/>
                      <a:pt x="799049" y="7191"/>
                      <a:pt x="811848" y="19991"/>
                    </a:cubicBezTo>
                    <a:cubicBezTo>
                      <a:pt x="824648" y="32790"/>
                      <a:pt x="831839" y="50151"/>
                      <a:pt x="831839" y="68252"/>
                    </a:cubicBezTo>
                    <a:lnTo>
                      <a:pt x="831839" y="68252"/>
                    </a:lnTo>
                    <a:cubicBezTo>
                      <a:pt x="831839" y="105947"/>
                      <a:pt x="801281" y="136504"/>
                      <a:pt x="763587" y="136504"/>
                    </a:cubicBezTo>
                    <a:lnTo>
                      <a:pt x="68252" y="136504"/>
                    </a:lnTo>
                    <a:cubicBezTo>
                      <a:pt x="50151" y="136504"/>
                      <a:pt x="32790" y="129314"/>
                      <a:pt x="19991" y="116514"/>
                    </a:cubicBezTo>
                    <a:cubicBezTo>
                      <a:pt x="7191" y="103714"/>
                      <a:pt x="0" y="86354"/>
                      <a:pt x="0" y="68252"/>
                    </a:cubicBezTo>
                    <a:lnTo>
                      <a:pt x="0" y="68252"/>
                    </a:lnTo>
                    <a:cubicBezTo>
                      <a:pt x="0" y="50151"/>
                      <a:pt x="7191" y="32790"/>
                      <a:pt x="19991" y="19991"/>
                    </a:cubicBezTo>
                    <a:cubicBezTo>
                      <a:pt x="32790" y="7191"/>
                      <a:pt x="50151" y="0"/>
                      <a:pt x="68252" y="0"/>
                    </a:cubicBezTo>
                    <a:close/>
                  </a:path>
                </a:pathLst>
              </a:custGeom>
              <a:solidFill>
                <a:srgbClr val="2B485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831839" cy="155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-20196"/>
              <a:ext cx="4433219" cy="6266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25"/>
                </a:lnSpc>
              </a:pPr>
              <a:r>
                <a:rPr lang="en-US" sz="2589">
                  <a:solidFill>
                    <a:srgbClr val="FFFFFF"/>
                  </a:solidFill>
                  <a:latin typeface="Codec Pro ExtraBold"/>
                  <a:ea typeface="Codec Pro ExtraBold"/>
                  <a:cs typeface="Codec Pro ExtraBold"/>
                  <a:sym typeface="Codec Pro ExtraBold"/>
                </a:rPr>
                <a:t>METHODS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8460" y="-609611"/>
            <a:ext cx="553934" cy="344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65"/>
              </a:lnSpc>
              <a:spcBef>
                <a:spcPct val="0"/>
              </a:spcBef>
            </a:pPr>
            <a:r>
              <a:rPr lang="en-US" b="true" sz="3689" strike="noStrike" u="none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MODELS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24192" y="1362627"/>
            <a:ext cx="6867696" cy="60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7"/>
              </a:lnSpc>
            </a:pPr>
            <a:r>
              <a:rPr lang="en-US" sz="3132" spc="313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MLP Model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44238" y="2083348"/>
            <a:ext cx="10043780" cy="39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8498036"/>
            <a:ext cx="3981611" cy="6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3"/>
              </a:lnSpc>
              <a:spcBef>
                <a:spcPct val="0"/>
              </a:spcBef>
            </a:pPr>
            <a:r>
              <a:rPr lang="en-US" b="true" sz="2180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-</a:t>
            </a:r>
            <a:r>
              <a:rPr lang="en-US" b="true" sz="2180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Training: </a:t>
            </a:r>
          </a:p>
          <a:p>
            <a:pPr algn="l">
              <a:lnSpc>
                <a:spcPts val="2348"/>
              </a:lnSpc>
              <a:spcBef>
                <a:spcPct val="0"/>
              </a:spcBef>
            </a:pPr>
            <a:r>
              <a:rPr lang="en-US" sz="1677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5 fold cross validation on the training set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67005" y="8498036"/>
            <a:ext cx="4713966" cy="6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3"/>
              </a:lnSpc>
              <a:spcBef>
                <a:spcPct val="0"/>
              </a:spcBef>
            </a:pPr>
            <a:r>
              <a:rPr lang="en-US" sz="2180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-</a:t>
            </a:r>
            <a:r>
              <a:rPr lang="en-US" b="true" sz="2180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Interpretation:</a:t>
            </a:r>
            <a:r>
              <a:rPr lang="en-US" sz="2180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</a:p>
          <a:p>
            <a:pPr algn="l">
              <a:lnSpc>
                <a:spcPts val="2348"/>
              </a:lnSpc>
              <a:spcBef>
                <a:spcPct val="0"/>
              </a:spcBef>
            </a:pPr>
            <a:r>
              <a:rPr lang="en-US" sz="1677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SHAP values for the two best performing models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40181" y="8498036"/>
            <a:ext cx="4199094" cy="6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3"/>
              </a:lnSpc>
              <a:spcBef>
                <a:spcPct val="0"/>
              </a:spcBef>
            </a:pPr>
            <a:r>
              <a:rPr lang="en-US" sz="2180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-</a:t>
            </a:r>
            <a:r>
              <a:rPr lang="en-US" b="true" sz="2180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Evaluation: </a:t>
            </a:r>
          </a:p>
          <a:p>
            <a:pPr algn="l">
              <a:lnSpc>
                <a:spcPts val="2348"/>
              </a:lnSpc>
              <a:spcBef>
                <a:spcPct val="0"/>
              </a:spcBef>
            </a:pPr>
            <a:r>
              <a:rPr lang="en-US" sz="1677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F1 score and ROC AUC on the testing set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3319485" y="2175315"/>
            <a:ext cx="10871704" cy="5936370"/>
          </a:xfrm>
          <a:custGeom>
            <a:avLst/>
            <a:gdLst/>
            <a:ahLst/>
            <a:cxnLst/>
            <a:rect r="r" b="b" t="t" l="l"/>
            <a:pathLst>
              <a:path h="5936370" w="10871704">
                <a:moveTo>
                  <a:pt x="0" y="0"/>
                </a:moveTo>
                <a:lnTo>
                  <a:pt x="10871704" y="0"/>
                </a:lnTo>
                <a:lnTo>
                  <a:pt x="10871704" y="5936370"/>
                </a:lnTo>
                <a:lnTo>
                  <a:pt x="0" y="5936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757" r="0" b="-1642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5950" y="9458712"/>
            <a:ext cx="19920214" cy="3593595"/>
            <a:chOff x="0" y="0"/>
            <a:chExt cx="5246476" cy="946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6476" cy="946461"/>
            </a:xfrm>
            <a:custGeom>
              <a:avLst/>
              <a:gdLst/>
              <a:ahLst/>
              <a:cxnLst/>
              <a:rect r="r" b="b" t="t" l="l"/>
              <a:pathLst>
                <a:path h="946461" w="5246476">
                  <a:moveTo>
                    <a:pt x="0" y="0"/>
                  </a:moveTo>
                  <a:lnTo>
                    <a:pt x="5246476" y="0"/>
                  </a:lnTo>
                  <a:lnTo>
                    <a:pt x="5246476" y="946461"/>
                  </a:lnTo>
                  <a:lnTo>
                    <a:pt x="0" y="946461"/>
                  </a:lnTo>
                  <a:close/>
                </a:path>
              </a:pathLst>
            </a:custGeom>
            <a:solidFill>
              <a:srgbClr val="2B485F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246476" cy="1003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71191" y="-953142"/>
            <a:ext cx="14732382" cy="12193285"/>
            <a:chOff x="0" y="0"/>
            <a:chExt cx="606795" cy="5022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77856" y="316722"/>
            <a:ext cx="11070161" cy="518290"/>
            <a:chOff x="0" y="0"/>
            <a:chExt cx="2915598" cy="136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15598" cy="136504"/>
            </a:xfrm>
            <a:custGeom>
              <a:avLst/>
              <a:gdLst/>
              <a:ahLst/>
              <a:cxnLst/>
              <a:rect r="r" b="b" t="t" l="l"/>
              <a:pathLst>
                <a:path h="136504" w="2915598">
                  <a:moveTo>
                    <a:pt x="35667" y="0"/>
                  </a:moveTo>
                  <a:lnTo>
                    <a:pt x="2879931" y="0"/>
                  </a:lnTo>
                  <a:cubicBezTo>
                    <a:pt x="2889390" y="0"/>
                    <a:pt x="2898463" y="3758"/>
                    <a:pt x="2905151" y="10447"/>
                  </a:cubicBezTo>
                  <a:cubicBezTo>
                    <a:pt x="2911840" y="17135"/>
                    <a:pt x="2915598" y="26207"/>
                    <a:pt x="2915598" y="35667"/>
                  </a:cubicBezTo>
                  <a:lnTo>
                    <a:pt x="2915598" y="100838"/>
                  </a:lnTo>
                  <a:cubicBezTo>
                    <a:pt x="2915598" y="110297"/>
                    <a:pt x="2911840" y="119369"/>
                    <a:pt x="2905151" y="126058"/>
                  </a:cubicBezTo>
                  <a:cubicBezTo>
                    <a:pt x="2898463" y="132747"/>
                    <a:pt x="2889390" y="136504"/>
                    <a:pt x="2879931" y="136504"/>
                  </a:cubicBezTo>
                  <a:lnTo>
                    <a:pt x="35667" y="136504"/>
                  </a:lnTo>
                  <a:cubicBezTo>
                    <a:pt x="26207" y="136504"/>
                    <a:pt x="17135" y="132747"/>
                    <a:pt x="10447" y="126058"/>
                  </a:cubicBezTo>
                  <a:cubicBezTo>
                    <a:pt x="3758" y="119369"/>
                    <a:pt x="0" y="110297"/>
                    <a:pt x="0" y="100838"/>
                  </a:cubicBezTo>
                  <a:lnTo>
                    <a:pt x="0" y="35667"/>
                  </a:lnTo>
                  <a:cubicBezTo>
                    <a:pt x="0" y="26207"/>
                    <a:pt x="3758" y="17135"/>
                    <a:pt x="10447" y="10447"/>
                  </a:cubicBezTo>
                  <a:cubicBezTo>
                    <a:pt x="17135" y="3758"/>
                    <a:pt x="26207" y="0"/>
                    <a:pt x="35667" y="0"/>
                  </a:cubicBezTo>
                  <a:close/>
                </a:path>
              </a:pathLst>
            </a:custGeom>
            <a:solidFill>
              <a:srgbClr val="F0F4F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915598" cy="1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56512" y="316722"/>
            <a:ext cx="3324914" cy="518290"/>
            <a:chOff x="0" y="0"/>
            <a:chExt cx="4433219" cy="69105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222033" y="0"/>
              <a:ext cx="4211185" cy="691054"/>
              <a:chOff x="0" y="0"/>
              <a:chExt cx="831839" cy="13650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31839" cy="136504"/>
              </a:xfrm>
              <a:custGeom>
                <a:avLst/>
                <a:gdLst/>
                <a:ahLst/>
                <a:cxnLst/>
                <a:rect r="r" b="b" t="t" l="l"/>
                <a:pathLst>
                  <a:path h="136504" w="831839">
                    <a:moveTo>
                      <a:pt x="68252" y="0"/>
                    </a:moveTo>
                    <a:lnTo>
                      <a:pt x="763587" y="0"/>
                    </a:lnTo>
                    <a:cubicBezTo>
                      <a:pt x="781688" y="0"/>
                      <a:pt x="799049" y="7191"/>
                      <a:pt x="811848" y="19991"/>
                    </a:cubicBezTo>
                    <a:cubicBezTo>
                      <a:pt x="824648" y="32790"/>
                      <a:pt x="831839" y="50151"/>
                      <a:pt x="831839" y="68252"/>
                    </a:cubicBezTo>
                    <a:lnTo>
                      <a:pt x="831839" y="68252"/>
                    </a:lnTo>
                    <a:cubicBezTo>
                      <a:pt x="831839" y="105947"/>
                      <a:pt x="801281" y="136504"/>
                      <a:pt x="763587" y="136504"/>
                    </a:cubicBezTo>
                    <a:lnTo>
                      <a:pt x="68252" y="136504"/>
                    </a:lnTo>
                    <a:cubicBezTo>
                      <a:pt x="50151" y="136504"/>
                      <a:pt x="32790" y="129314"/>
                      <a:pt x="19991" y="116514"/>
                    </a:cubicBezTo>
                    <a:cubicBezTo>
                      <a:pt x="7191" y="103714"/>
                      <a:pt x="0" y="86354"/>
                      <a:pt x="0" y="68252"/>
                    </a:cubicBezTo>
                    <a:lnTo>
                      <a:pt x="0" y="68252"/>
                    </a:lnTo>
                    <a:cubicBezTo>
                      <a:pt x="0" y="50151"/>
                      <a:pt x="7191" y="32790"/>
                      <a:pt x="19991" y="19991"/>
                    </a:cubicBezTo>
                    <a:cubicBezTo>
                      <a:pt x="32790" y="7191"/>
                      <a:pt x="50151" y="0"/>
                      <a:pt x="68252" y="0"/>
                    </a:cubicBezTo>
                    <a:close/>
                  </a:path>
                </a:pathLst>
              </a:custGeom>
              <a:solidFill>
                <a:srgbClr val="2B485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831839" cy="155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-20196"/>
              <a:ext cx="4433219" cy="6266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25"/>
                </a:lnSpc>
              </a:pPr>
              <a:r>
                <a:rPr lang="en-US" sz="2589">
                  <a:solidFill>
                    <a:srgbClr val="FFFFFF"/>
                  </a:solidFill>
                  <a:latin typeface="Codec Pro ExtraBold"/>
                  <a:ea typeface="Codec Pro ExtraBold"/>
                  <a:cs typeface="Codec Pro ExtraBold"/>
                  <a:sym typeface="Codec Pro ExtraBold"/>
                </a:rPr>
                <a:t>SUMMARY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1488806"/>
            <a:ext cx="5846755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05"/>
              </a:lnSpc>
              <a:spcBef>
                <a:spcPct val="0"/>
              </a:spcBef>
            </a:pPr>
            <a:r>
              <a:rPr lang="en-US" sz="2869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 did: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9226" y="2163272"/>
            <a:ext cx="13941367" cy="156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2577" b="tru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Reproduce part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-</a:t>
            </a:r>
            <a:r>
              <a:rPr lang="en-US" sz="2100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Determining the mandate timing for each state based on the OxCGRT COVID-19 Government Response Tracker data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-</a:t>
            </a:r>
            <a:r>
              <a:rPr lang="en-US" sz="2100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Cleaning, preprocessing, and splitting of the YouGov COVID-19 Behaviour Tracker data.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189603"/>
            <a:ext cx="13941367" cy="119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2577" b="true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Data work for the extend part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-Integrating COVID-19 case numbers, vaccination data, and the YouGov COVID-19 Behaviour Tracker data into a single dataset.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5950" y="9458712"/>
            <a:ext cx="19920214" cy="3593595"/>
            <a:chOff x="0" y="0"/>
            <a:chExt cx="5246476" cy="946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6476" cy="946461"/>
            </a:xfrm>
            <a:custGeom>
              <a:avLst/>
              <a:gdLst/>
              <a:ahLst/>
              <a:cxnLst/>
              <a:rect r="r" b="b" t="t" l="l"/>
              <a:pathLst>
                <a:path h="946461" w="5246476">
                  <a:moveTo>
                    <a:pt x="0" y="0"/>
                  </a:moveTo>
                  <a:lnTo>
                    <a:pt x="5246476" y="0"/>
                  </a:lnTo>
                  <a:lnTo>
                    <a:pt x="5246476" y="946461"/>
                  </a:lnTo>
                  <a:lnTo>
                    <a:pt x="0" y="946461"/>
                  </a:lnTo>
                  <a:close/>
                </a:path>
              </a:pathLst>
            </a:custGeom>
            <a:solidFill>
              <a:srgbClr val="2B485F">
                <a:alpha val="2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246476" cy="1003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71191" y="-953142"/>
            <a:ext cx="14732382" cy="12193285"/>
            <a:chOff x="0" y="0"/>
            <a:chExt cx="606795" cy="5022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6795" cy="502215"/>
            </a:xfrm>
            <a:custGeom>
              <a:avLst/>
              <a:gdLst/>
              <a:ahLst/>
              <a:cxnLst/>
              <a:rect r="r" b="b" t="t" l="l"/>
              <a:pathLst>
                <a:path h="502215" w="60679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403595" cy="55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77856" y="316722"/>
            <a:ext cx="11070161" cy="518290"/>
            <a:chOff x="0" y="0"/>
            <a:chExt cx="2915598" cy="136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15598" cy="136504"/>
            </a:xfrm>
            <a:custGeom>
              <a:avLst/>
              <a:gdLst/>
              <a:ahLst/>
              <a:cxnLst/>
              <a:rect r="r" b="b" t="t" l="l"/>
              <a:pathLst>
                <a:path h="136504" w="2915598">
                  <a:moveTo>
                    <a:pt x="35667" y="0"/>
                  </a:moveTo>
                  <a:lnTo>
                    <a:pt x="2879931" y="0"/>
                  </a:lnTo>
                  <a:cubicBezTo>
                    <a:pt x="2889390" y="0"/>
                    <a:pt x="2898463" y="3758"/>
                    <a:pt x="2905151" y="10447"/>
                  </a:cubicBezTo>
                  <a:cubicBezTo>
                    <a:pt x="2911840" y="17135"/>
                    <a:pt x="2915598" y="26207"/>
                    <a:pt x="2915598" y="35667"/>
                  </a:cubicBezTo>
                  <a:lnTo>
                    <a:pt x="2915598" y="100838"/>
                  </a:lnTo>
                  <a:cubicBezTo>
                    <a:pt x="2915598" y="110297"/>
                    <a:pt x="2911840" y="119369"/>
                    <a:pt x="2905151" y="126058"/>
                  </a:cubicBezTo>
                  <a:cubicBezTo>
                    <a:pt x="2898463" y="132747"/>
                    <a:pt x="2889390" y="136504"/>
                    <a:pt x="2879931" y="136504"/>
                  </a:cubicBezTo>
                  <a:lnTo>
                    <a:pt x="35667" y="136504"/>
                  </a:lnTo>
                  <a:cubicBezTo>
                    <a:pt x="26207" y="136504"/>
                    <a:pt x="17135" y="132747"/>
                    <a:pt x="10447" y="126058"/>
                  </a:cubicBezTo>
                  <a:cubicBezTo>
                    <a:pt x="3758" y="119369"/>
                    <a:pt x="0" y="110297"/>
                    <a:pt x="0" y="100838"/>
                  </a:cubicBezTo>
                  <a:lnTo>
                    <a:pt x="0" y="35667"/>
                  </a:lnTo>
                  <a:cubicBezTo>
                    <a:pt x="0" y="26207"/>
                    <a:pt x="3758" y="17135"/>
                    <a:pt x="10447" y="10447"/>
                  </a:cubicBezTo>
                  <a:cubicBezTo>
                    <a:pt x="17135" y="3758"/>
                    <a:pt x="26207" y="0"/>
                    <a:pt x="35667" y="0"/>
                  </a:cubicBezTo>
                  <a:close/>
                </a:path>
              </a:pathLst>
            </a:custGeom>
            <a:solidFill>
              <a:srgbClr val="F0F4F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915598" cy="1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23103" y="316722"/>
            <a:ext cx="3324914" cy="518290"/>
            <a:chOff x="0" y="0"/>
            <a:chExt cx="4433219" cy="69105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222033" y="0"/>
              <a:ext cx="4211185" cy="691054"/>
              <a:chOff x="0" y="0"/>
              <a:chExt cx="831839" cy="13650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31839" cy="136504"/>
              </a:xfrm>
              <a:custGeom>
                <a:avLst/>
                <a:gdLst/>
                <a:ahLst/>
                <a:cxnLst/>
                <a:rect r="r" b="b" t="t" l="l"/>
                <a:pathLst>
                  <a:path h="136504" w="831839">
                    <a:moveTo>
                      <a:pt x="68252" y="0"/>
                    </a:moveTo>
                    <a:lnTo>
                      <a:pt x="763587" y="0"/>
                    </a:lnTo>
                    <a:cubicBezTo>
                      <a:pt x="781688" y="0"/>
                      <a:pt x="799049" y="7191"/>
                      <a:pt x="811848" y="19991"/>
                    </a:cubicBezTo>
                    <a:cubicBezTo>
                      <a:pt x="824648" y="32790"/>
                      <a:pt x="831839" y="50151"/>
                      <a:pt x="831839" y="68252"/>
                    </a:cubicBezTo>
                    <a:lnTo>
                      <a:pt x="831839" y="68252"/>
                    </a:lnTo>
                    <a:cubicBezTo>
                      <a:pt x="831839" y="105947"/>
                      <a:pt x="801281" y="136504"/>
                      <a:pt x="763587" y="136504"/>
                    </a:cubicBezTo>
                    <a:lnTo>
                      <a:pt x="68252" y="136504"/>
                    </a:lnTo>
                    <a:cubicBezTo>
                      <a:pt x="50151" y="136504"/>
                      <a:pt x="32790" y="129314"/>
                      <a:pt x="19991" y="116514"/>
                    </a:cubicBezTo>
                    <a:cubicBezTo>
                      <a:pt x="7191" y="103714"/>
                      <a:pt x="0" y="86354"/>
                      <a:pt x="0" y="68252"/>
                    </a:cubicBezTo>
                    <a:lnTo>
                      <a:pt x="0" y="68252"/>
                    </a:lnTo>
                    <a:cubicBezTo>
                      <a:pt x="0" y="50151"/>
                      <a:pt x="7191" y="32790"/>
                      <a:pt x="19991" y="19991"/>
                    </a:cubicBezTo>
                    <a:cubicBezTo>
                      <a:pt x="32790" y="7191"/>
                      <a:pt x="50151" y="0"/>
                      <a:pt x="68252" y="0"/>
                    </a:cubicBezTo>
                    <a:close/>
                  </a:path>
                </a:pathLst>
              </a:custGeom>
              <a:solidFill>
                <a:srgbClr val="2B485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831839" cy="155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-20196"/>
              <a:ext cx="4433219" cy="6266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25"/>
                </a:lnSpc>
              </a:pPr>
              <a:r>
                <a:rPr lang="en-US" sz="2589">
                  <a:solidFill>
                    <a:srgbClr val="FFFFFF"/>
                  </a:solidFill>
                  <a:latin typeface="Codec Pro ExtraBold"/>
                  <a:ea typeface="Codec Pro ExtraBold"/>
                  <a:cs typeface="Codec Pro ExtraBold"/>
                  <a:sym typeface="Codec Pro ExtraBold"/>
                </a:rPr>
                <a:t>FUTURE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3319721"/>
            <a:ext cx="13941367" cy="41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-Model tu</a:t>
            </a:r>
            <a:r>
              <a:rPr lang="en-US" b="true" sz="2577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ning (w3-6)</a:t>
            </a:r>
          </a:p>
          <a:p>
            <a:pPr algn="l">
              <a:lnSpc>
                <a:spcPts val="2776"/>
              </a:lnSpc>
              <a:spcBef>
                <a:spcPct val="0"/>
              </a:spcBef>
            </a:pPr>
            <a:r>
              <a:rPr lang="en-US" sz="198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Fit four models：Logistic Regression, Classification Trees, XGBoost, and MLPs. </a:t>
            </a:r>
          </a:p>
          <a:p>
            <a:pPr algn="l">
              <a:lnSpc>
                <a:spcPts val="2776"/>
              </a:lnSpc>
              <a:spcBef>
                <a:spcPct val="0"/>
              </a:spcBef>
            </a:pPr>
            <a:r>
              <a:rPr lang="en-US" sz="198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For the tree based models, hyperparameters will be tuned using</a:t>
            </a:r>
            <a:r>
              <a:rPr lang="en-US" sz="198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 Optuna with 5-fold cross validation on the training data, with AUC as the optimisation metric. </a:t>
            </a:r>
          </a:p>
          <a:p>
            <a:pPr algn="l">
              <a:lnSpc>
                <a:spcPts val="2776"/>
              </a:lnSpc>
              <a:spcBef>
                <a:spcPct val="0"/>
              </a:spcBef>
            </a:pPr>
          </a:p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-Mode</a:t>
            </a:r>
            <a:r>
              <a:rPr lang="en-US" b="true" sz="2577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l comparison (w6-7)</a:t>
            </a:r>
          </a:p>
          <a:p>
            <a:pPr algn="l">
              <a:lnSpc>
                <a:spcPts val="2776"/>
              </a:lnSpc>
              <a:spcBef>
                <a:spcPct val="0"/>
              </a:spcBef>
            </a:pPr>
            <a:r>
              <a:rPr lang="en-US" sz="198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Compare the four</a:t>
            </a:r>
            <a:r>
              <a:rPr lang="en-US" sz="198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 models using AUC, Precision, Recall, Accuracy, and F1 score. The best models will be selected based on predictive performance.</a:t>
            </a:r>
          </a:p>
          <a:p>
            <a:pPr algn="l">
              <a:lnSpc>
                <a:spcPts val="2776"/>
              </a:lnSpc>
              <a:spcBef>
                <a:spcPct val="0"/>
              </a:spcBef>
            </a:pPr>
          </a:p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sz="2577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-</a:t>
            </a:r>
            <a:r>
              <a:rPr lang="en-US" b="true" sz="2577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Interpretation (w7-9/10)</a:t>
            </a:r>
          </a:p>
          <a:p>
            <a:pPr algn="l">
              <a:lnSpc>
                <a:spcPts val="2776"/>
              </a:lnSpc>
              <a:spcBef>
                <a:spcPct val="0"/>
              </a:spcBef>
            </a:pPr>
            <a:r>
              <a:rPr lang="en-US" sz="198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Investigate the</a:t>
            </a:r>
            <a:r>
              <a:rPr lang="en-US" sz="198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 stable important features by SHAP values on the two best performing models.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3096" y="1434101"/>
            <a:ext cx="8881133" cy="55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5"/>
              </a:lnSpc>
            </a:pPr>
            <a:r>
              <a:rPr lang="en-US" sz="2869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Extend the original framework (Term2)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215628"/>
            <a:ext cx="13941367" cy="116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-Cleaning and preprocessing</a:t>
            </a:r>
            <a:r>
              <a:rPr lang="en-US" b="true" sz="2577">
                <a:solidFill>
                  <a:srgbClr val="365679"/>
                </a:solidFill>
                <a:latin typeface="Helios Bold"/>
                <a:ea typeface="Helios Bold"/>
                <a:cs typeface="Helios Bold"/>
                <a:sym typeface="Helios Bold"/>
              </a:rPr>
              <a:t> (w2-3)</a:t>
            </a:r>
          </a:p>
          <a:p>
            <a:pPr algn="l">
              <a:lnSpc>
                <a:spcPts val="2776"/>
              </a:lnSpc>
              <a:spcBef>
                <a:spcPct val="0"/>
              </a:spcBef>
            </a:pPr>
            <a:r>
              <a:rPr lang="en-US" sz="198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Still cleaning...</a:t>
            </a:r>
          </a:p>
          <a:p>
            <a:pPr algn="l">
              <a:lnSpc>
                <a:spcPts val="27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DAHL_LLs8yQ</dc:identifier>
  <dcterms:modified xsi:type="dcterms:W3CDTF">2011-08-01T06:04:30Z</dcterms:modified>
  <cp:revision>1</cp:revision>
  <dc:title>pre 副本</dc:title>
</cp:coreProperties>
</file>